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Times New Roman MT" panose="020B0604020202020204" charset="0"/>
      <p:regular r:id="rId15"/>
    </p:embeddedFont>
    <p:embeddedFont>
      <p:font typeface="Times New Roman M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451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4849" y="-4690741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CF4">
                <a:alpha val="666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019175"/>
            <a:ext cx="16139196" cy="0"/>
          </a:xfrm>
          <a:prstGeom prst="line">
            <a:avLst/>
          </a:prstGeom>
          <a:ln w="5715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949106" y="-155126"/>
            <a:ext cx="6405249" cy="3627069"/>
          </a:xfrm>
          <a:custGeom>
            <a:avLst/>
            <a:gdLst/>
            <a:ahLst/>
            <a:cxnLst/>
            <a:rect l="l" t="t" r="r" b="b"/>
            <a:pathLst>
              <a:path w="6405249" h="3627069">
                <a:moveTo>
                  <a:pt x="0" y="0"/>
                </a:moveTo>
                <a:lnTo>
                  <a:pt x="6405249" y="0"/>
                </a:lnTo>
                <a:lnTo>
                  <a:pt x="6405249" y="3627068"/>
                </a:lnTo>
                <a:lnTo>
                  <a:pt x="0" y="362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519850" y="3052842"/>
            <a:ext cx="15030999" cy="706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Title: Detection of AI-Generated Arabic Text</a:t>
            </a: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Course: MSIS-822 – Advanced Data Analytic Techniques</a:t>
            </a: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Supervised by: </a:t>
            </a:r>
            <a:r>
              <a:rPr lang="en-US" sz="4377" b="1" spc="157" dirty="0" err="1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Prof.Mohammed</a:t>
            </a: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Al-</a:t>
            </a:r>
            <a:r>
              <a:rPr lang="en-US" sz="4377" b="1" spc="157" dirty="0" err="1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sarem</a:t>
            </a:r>
            <a:endParaRPr lang="en-US" sz="4377" b="1" spc="157" dirty="0">
              <a:solidFill>
                <a:srgbClr val="435663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by: </a:t>
            </a:r>
            <a:r>
              <a:rPr lang="en-US" sz="4377" b="1" spc="157" dirty="0" err="1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Shoag</a:t>
            </a: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4377" b="1" spc="157" dirty="0" err="1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Almodifer</a:t>
            </a:r>
            <a:endParaRPr lang="en-US" sz="4377" b="1" spc="157" dirty="0">
              <a:solidFill>
                <a:srgbClr val="435663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7966"/>
              </a:lnSpc>
            </a:pPr>
            <a:r>
              <a:rPr lang="en-US" sz="4377" b="1" spc="157" dirty="0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Institution: Taibah University</a:t>
            </a:r>
          </a:p>
          <a:p>
            <a:pPr algn="ctr">
              <a:lnSpc>
                <a:spcPts val="7966"/>
              </a:lnSpc>
            </a:pPr>
            <a:endParaRPr lang="en-US" sz="4377" b="1" spc="157" dirty="0">
              <a:solidFill>
                <a:srgbClr val="435663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7966"/>
              </a:lnSpc>
            </a:pPr>
            <a:endParaRPr lang="en-US" sz="4377" b="1" spc="157" dirty="0">
              <a:solidFill>
                <a:srgbClr val="435663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657899" y="2389457"/>
            <a:ext cx="4680499" cy="6064562"/>
          </a:xfrm>
          <a:custGeom>
            <a:avLst/>
            <a:gdLst/>
            <a:ahLst/>
            <a:cxnLst/>
            <a:rect l="l" t="t" r="r" b="b"/>
            <a:pathLst>
              <a:path w="4680499" h="6064562">
                <a:moveTo>
                  <a:pt x="0" y="0"/>
                </a:moveTo>
                <a:lnTo>
                  <a:pt x="4680499" y="0"/>
                </a:lnTo>
                <a:lnTo>
                  <a:pt x="4680499" y="6064562"/>
                </a:lnTo>
                <a:lnTo>
                  <a:pt x="0" y="6064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51089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9650" y="2798375"/>
            <a:ext cx="11191464" cy="579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rabic AI-text detection is still underdeveloped compared to English.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Large Language Models (LLMs) like GPT-4, LLaMA, Jais can generate Arabic text almost identical to human writing.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lack of annotated Arabic datasets makes it difficult to detect AI-generated content.</a:t>
            </a:r>
          </a:p>
          <a:p>
            <a:pPr marL="786194" lvl="1" indent="-393097" algn="l">
              <a:lnSpc>
                <a:spcPts val="5025"/>
              </a:lnSpc>
              <a:buFont typeface="Arial"/>
              <a:buChar char="•"/>
            </a:pPr>
            <a:r>
              <a:rPr lang="en-US" sz="3641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raises risks in academic integrity, fake research, and digital misinformation.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8621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Preprocessing &amp; Data Normalization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453055"/>
            <a:ext cx="16766112" cy="6337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5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multi-stage preprocessing pipeline was implemented to handle the linguistic complexity of Arabic: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Text Normalization: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Unify letter forms (</a:t>
            </a:r>
            <a:r>
              <a:rPr lang="ar-EG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  <a:rtl/>
              </a:rPr>
              <a:t>أ / إ / آ → ا, ى → ي, ة → ه</a:t>
            </a: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diacritics (</a:t>
            </a:r>
            <a:r>
              <a:rPr lang="en-US" sz="3599" u="none" strike="noStrike" dirty="0" err="1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tashkeel</a:t>
            </a: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), digits, and special symbols.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Structural Cleaning: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 HTML tags, URLs, and email addresses.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Delete repeated punctuation and character elongations.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Normalize whitespace.</a:t>
            </a:r>
          </a:p>
          <a:p>
            <a:pPr algn="l">
              <a:lnSpc>
                <a:spcPts val="4967"/>
              </a:lnSpc>
            </a:pPr>
            <a:endParaRPr lang="en-US" sz="3599" u="none" strike="noStrike" dirty="0">
              <a:solidFill>
                <a:srgbClr val="FFFCF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028700" y="9429857"/>
            <a:ext cx="16139196" cy="9525"/>
          </a:xfrm>
          <a:prstGeom prst="line">
            <a:avLst/>
          </a:prstGeom>
          <a:ln w="76200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4811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Preprocessing &amp; Data Normalization Con’t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89543"/>
            <a:ext cx="16766112" cy="507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Tokenization &amp; Stopword Removal: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NLTK Arabic tokenizer and extended stopword lists (NLTK + GitHub custom).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Morphological Processing: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ISRI stemming to reduce words to root forms.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Stanza lemmatization to preserve grammatical meaning.</a:t>
            </a:r>
          </a:p>
          <a:p>
            <a:pPr marL="777237" lvl="1" indent="-388618" algn="l">
              <a:lnSpc>
                <a:spcPts val="4967"/>
              </a:lnSpc>
              <a:buFont typeface="Arial"/>
              <a:buChar char="•"/>
            </a:pPr>
            <a:r>
              <a:rPr lang="en-US" sz="359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Quality Assurance:</a:t>
            </a:r>
          </a:p>
          <a:p>
            <a:pPr marL="1554474" lvl="2" indent="-518158" algn="l">
              <a:lnSpc>
                <a:spcPts val="4967"/>
              </a:lnSpc>
              <a:buFont typeface="Arial"/>
              <a:buChar char="⚬"/>
            </a:pPr>
            <a:r>
              <a:rPr lang="en-US" sz="35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Logs were used to track preprocessing errors.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1028700" y="9318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028700" y="9429857"/>
            <a:ext cx="16139196" cy="9525"/>
          </a:xfrm>
          <a:prstGeom prst="line">
            <a:avLst/>
          </a:prstGeom>
          <a:ln w="76200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5535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237172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05" y="2112435"/>
            <a:ext cx="16546895" cy="507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2" lvl="1" indent="-388621" algn="l">
              <a:lnSpc>
                <a:spcPts val="4968"/>
              </a:lnSpc>
              <a:buAutoNum type="arabicPeriod"/>
            </a:pPr>
            <a:r>
              <a:rPr lang="en-US" sz="3600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Short Word Ratio (≤ 3 letters)</a:t>
            </a:r>
          </a:p>
          <a:p>
            <a:pPr marL="777242" lvl="1" indent="-388621" algn="l">
              <a:lnSpc>
                <a:spcPts val="4968"/>
              </a:lnSpc>
              <a:buFont typeface="Arial"/>
              <a:buChar char="•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AI:</a:t>
            </a:r>
          </a:p>
          <a:p>
            <a:pPr marL="1554483" lvl="2" indent="-518161" algn="l">
              <a:lnSpc>
                <a:spcPts val="4968"/>
              </a:lnSpc>
              <a:buFont typeface="Arial"/>
              <a:buChar char="⚬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Jais: 10.8% (highest – frequent short connectors).</a:t>
            </a:r>
          </a:p>
          <a:p>
            <a:pPr marL="1554483" lvl="2" indent="-518161" algn="l">
              <a:lnSpc>
                <a:spcPts val="4968"/>
              </a:lnSpc>
              <a:buFont typeface="Arial"/>
              <a:buChar char="⚬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Allam: 9.7%, LLaMA: 8.9%, OpenAI: 8.1%.</a:t>
            </a:r>
          </a:p>
          <a:p>
            <a:pPr marL="777242" lvl="1" indent="-388621" algn="l">
              <a:lnSpc>
                <a:spcPts val="4968"/>
              </a:lnSpc>
              <a:buFont typeface="Arial"/>
              <a:buChar char="•"/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Original: 9.8% (natural use of short function words).</a:t>
            </a:r>
          </a:p>
          <a:p>
            <a:pPr algn="l">
              <a:lnSpc>
                <a:spcPts val="4968"/>
              </a:lnSpc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Human and Jais texts show richer linguistic flow; OpenAI more formal and structured.</a:t>
            </a:r>
          </a:p>
          <a:p>
            <a:pPr algn="l">
              <a:lnSpc>
                <a:spcPts val="4968"/>
              </a:lnSpc>
            </a:pPr>
            <a:r>
              <a:rPr lang="en-US" sz="360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771232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129038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 Con’t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8171" y="2091105"/>
            <a:ext cx="16619549" cy="420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Sentence Count &amp; Structure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AI:</a:t>
            </a:r>
          </a:p>
          <a:p>
            <a:pPr marL="431799" lvl="1"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Allam: 4.49, Jais: 5.91, </a:t>
            </a:r>
            <a:r>
              <a:rPr lang="en-US" sz="3999" b="1" dirty="0" err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LLaMA</a:t>
            </a: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5.66, OpenAI: 6.50 sentences on average.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Original: 7.43 sentences (longer and more complex).</a:t>
            </a:r>
          </a:p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 Human texts are more segmented and syntactically rich; AI outputs are concise and dense.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599C3-DD1C-AED6-0543-260C0893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19F7953-550B-5ABC-8564-E24BA10212CC}"/>
              </a:ext>
            </a:extLst>
          </p:cNvPr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93E0F95-1D95-14F1-80C4-C4E6DD900D09}"/>
              </a:ext>
            </a:extLst>
          </p:cNvPr>
          <p:cNvSpPr/>
          <p:nvPr/>
        </p:nvSpPr>
        <p:spPr>
          <a:xfrm flipV="1">
            <a:off x="1028700" y="9771232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5FB0B0-2E26-0011-3877-DB43E9DCAAAF}"/>
              </a:ext>
            </a:extLst>
          </p:cNvPr>
          <p:cNvSpPr txBox="1"/>
          <p:nvPr/>
        </p:nvSpPr>
        <p:spPr>
          <a:xfrm>
            <a:off x="1028700" y="1129038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 Con’t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E118B6-BB4B-C694-2592-452A4223FFA0}"/>
              </a:ext>
            </a:extLst>
          </p:cNvPr>
          <p:cNvSpPr txBox="1"/>
          <p:nvPr/>
        </p:nvSpPr>
        <p:spPr>
          <a:xfrm>
            <a:off x="1238171" y="2091105"/>
            <a:ext cx="16619549" cy="8432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</a:t>
            </a:r>
            <a:r>
              <a:rPr lang="en-GB" sz="3999" b="1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Active Voice Sentence Count</a:t>
            </a:r>
          </a:p>
          <a:p>
            <a:pPr marL="571500" indent="-571500">
              <a:lnSpc>
                <a:spcPts val="5519"/>
              </a:lnSpc>
              <a:buFont typeface="Arial" panose="020B0604020202020204" pitchFamily="34" charset="0"/>
              <a:buChar char="•"/>
            </a:pPr>
            <a:r>
              <a:rPr lang="en-GB" sz="3999" b="1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Overall mean is 1.43</a:t>
            </a:r>
          </a:p>
          <a:p>
            <a:pPr marL="571500" indent="-571500">
              <a:lnSpc>
                <a:spcPts val="5519"/>
              </a:lnSpc>
              <a:buFont typeface="Arial" panose="020B0604020202020204" pitchFamily="34" charset="0"/>
              <a:buChar char="•"/>
            </a:pPr>
            <a:r>
              <a:rPr lang="en-GB" sz="3999" b="1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Allam: 1.83, OpenAI: 1.32,Jais: 1.31, and </a:t>
            </a:r>
            <a:r>
              <a:rPr lang="en-GB" sz="3999" b="1" dirty="0" err="1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LLaMA</a:t>
            </a:r>
            <a:r>
              <a:rPr lang="en-GB" sz="3999" b="1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1.24. </a:t>
            </a:r>
          </a:p>
          <a:p>
            <a:pPr marL="571500" indent="-571500">
              <a:lnSpc>
                <a:spcPts val="5519"/>
              </a:lnSpc>
              <a:buFont typeface="Arial" panose="020B0604020202020204" pitchFamily="34" charset="0"/>
              <a:buChar char="•"/>
            </a:pPr>
            <a:r>
              <a:rPr lang="en-GB" sz="3999" b="1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Original: 1.46.</a:t>
            </a:r>
          </a:p>
          <a:p>
            <a:pPr>
              <a:lnSpc>
                <a:spcPts val="5519"/>
              </a:lnSpc>
            </a:pPr>
            <a:r>
              <a:rPr lang="en-US" sz="3600" dirty="0">
                <a:solidFill>
                  <a:srgbClr val="FFFCF4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Insight</a:t>
            </a:r>
            <a:r>
              <a:rPr lang="en-US" sz="3600" b="1" dirty="0">
                <a:solidFill>
                  <a:srgbClr val="FFFCF4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GB" sz="3600" dirty="0">
                <a:solidFill>
                  <a:srgbClr val="FFFCF4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The writing style across the entire dataset leans more toward the passive voice rather than active </a:t>
            </a:r>
            <a:r>
              <a:rPr lang="en-US" sz="3600" dirty="0">
                <a:solidFill>
                  <a:srgbClr val="FFFCF4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voices where </a:t>
            </a:r>
            <a:r>
              <a:rPr lang="en-GB" sz="3600" dirty="0">
                <a:solidFill>
                  <a:srgbClr val="FFFCF4"/>
                </a:solidFill>
                <a:latin typeface="Times New Roman MT" panose="020B0604020202020204" charset="0"/>
                <a:ea typeface="Times New Roman MT Bold"/>
                <a:cs typeface="Times New Roman MT Bold"/>
                <a:sym typeface="Times New Roman MT Bold"/>
              </a:rPr>
              <a:t>the sentence uses a form of the verb.</a:t>
            </a:r>
            <a:endParaRPr lang="en-US" sz="3600" dirty="0">
              <a:solidFill>
                <a:srgbClr val="FFFCF4"/>
              </a:solidFill>
              <a:latin typeface="Times New Roman MT" panose="020B0604020202020204" charset="0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 Foreign Letters Ratio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</a:t>
            </a: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3999" dirty="0" err="1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LLaMA</a:t>
            </a: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0.98, Allam &amp; Jais: 0.49, OpenAI: 0.29.</a:t>
            </a:r>
          </a:p>
          <a:p>
            <a:pPr marL="863598" lvl="1" indent="-431799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</a:t>
            </a: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0.83 (includes real English abbreviations or citations).</a:t>
            </a:r>
          </a:p>
          <a:p>
            <a:pPr algn="l">
              <a:lnSpc>
                <a:spcPts val="5519"/>
              </a:lnSpc>
            </a:pP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</a:t>
            </a:r>
            <a:r>
              <a:rPr lang="en-US" sz="3600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Human writing often mixes Arabic with foreign symbols; AI-generated text remains purely Arabic.</a:t>
            </a:r>
          </a:p>
          <a:p>
            <a:pPr algn="l">
              <a:lnSpc>
                <a:spcPts val="5519"/>
              </a:lnSpc>
            </a:pPr>
            <a:endParaRPr lang="en-US" sz="3999" dirty="0">
              <a:solidFill>
                <a:srgbClr val="FFFCF4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92D96E5-BB74-1DB6-4C03-647CE62A7CB4}"/>
              </a:ext>
            </a:extLst>
          </p:cNvPr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1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451369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354429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Feature Engineering Con’t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675" y="2376509"/>
            <a:ext cx="16363083" cy="631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 Redundancy Score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AI: Allam: 0.56, </a:t>
            </a:r>
            <a:r>
              <a:rPr lang="en-US" sz="3999" b="1" dirty="0" err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LLaMA</a:t>
            </a: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0.55, Jais: 0.54, OpenAI: 0.52.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Original: 0.39 (much lower repetition).</a:t>
            </a:r>
          </a:p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 AI-generated abstracts are more repetitive and template-like; human writing is diverse and context-driven.</a:t>
            </a:r>
          </a:p>
          <a:p>
            <a:pPr algn="l">
              <a:lnSpc>
                <a:spcPts val="5519"/>
              </a:lnSpc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6. Vocabulary Richness (TTR)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</a:t>
            </a: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0.70–0.79 range.</a:t>
            </a:r>
          </a:p>
          <a:p>
            <a:pPr marL="863599" lvl="1" indent="-431800" algn="l">
              <a:lnSpc>
                <a:spcPts val="5519"/>
              </a:lnSpc>
              <a:buFont typeface="Arial"/>
              <a:buChar char="•"/>
            </a:pPr>
            <a:r>
              <a:rPr lang="en-US" sz="3999" b="1" dirty="0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Original</a:t>
            </a: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0.798 (highest diversity).</a:t>
            </a:r>
          </a:p>
          <a:p>
            <a:pPr algn="l">
              <a:lnSpc>
                <a:spcPts val="5519"/>
              </a:lnSpc>
            </a:pPr>
            <a:r>
              <a:rPr lang="en-US" sz="3999" dirty="0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Insight: Human abstracts use a broader and more varied vocabulary.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621574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295449" y="5510401"/>
            <a:ext cx="3674745" cy="2953825"/>
          </a:xfrm>
          <a:custGeom>
            <a:avLst/>
            <a:gdLst/>
            <a:ahLst/>
            <a:cxnLst/>
            <a:rect l="l" t="t" r="r" b="b"/>
            <a:pathLst>
              <a:path w="3674745" h="2953825">
                <a:moveTo>
                  <a:pt x="0" y="0"/>
                </a:moveTo>
                <a:lnTo>
                  <a:pt x="3674745" y="0"/>
                </a:lnTo>
                <a:lnTo>
                  <a:pt x="3674745" y="2953824"/>
                </a:lnTo>
                <a:lnTo>
                  <a:pt x="0" y="2953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478" r="-41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295449" y="2125276"/>
            <a:ext cx="3674745" cy="3018224"/>
          </a:xfrm>
          <a:custGeom>
            <a:avLst/>
            <a:gdLst/>
            <a:ahLst/>
            <a:cxnLst/>
            <a:rect l="l" t="t" r="r" b="b"/>
            <a:pathLst>
              <a:path w="3674745" h="3018224">
                <a:moveTo>
                  <a:pt x="0" y="0"/>
                </a:moveTo>
                <a:lnTo>
                  <a:pt x="3674745" y="0"/>
                </a:lnTo>
                <a:lnTo>
                  <a:pt x="3674745" y="3018224"/>
                </a:lnTo>
                <a:lnTo>
                  <a:pt x="0" y="3018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243" r="-4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160475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Embeddings &amp; Data Splitting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723" y="1972876"/>
            <a:ext cx="13437726" cy="731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35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TF-IDF (Term Frequency–Inverse Document Frequency)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to represent texts numerically based on word frequency.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Captures lexical patterns and stylistic differences—ideal for classical ML models.</a:t>
            </a:r>
          </a:p>
          <a:p>
            <a:pPr algn="l">
              <a:lnSpc>
                <a:spcPts val="4911"/>
              </a:lnSpc>
            </a:pPr>
            <a:r>
              <a:rPr lang="en-US" sz="35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BERT Embeddings (Contextual Representation)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Transforms text into dense vectors capturing meaning and context.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Enables deep models to understand semantics beyond surface words.</a:t>
            </a:r>
          </a:p>
          <a:p>
            <a:pPr algn="l">
              <a:lnSpc>
                <a:spcPts val="4911"/>
              </a:lnSpc>
            </a:pPr>
            <a:r>
              <a:rPr lang="en-US" sz="35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Splitting </a:t>
            </a:r>
            <a:r>
              <a:rPr lang="en-US" sz="35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(70 / 15 / 15 : Train / Validation / Test)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fair model evaluation and prevents data leakage.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Training used for fitting, validation for tuning, and test for final performance check.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662696" y="6205913"/>
            <a:ext cx="8371099" cy="2941460"/>
          </a:xfrm>
          <a:custGeom>
            <a:avLst/>
            <a:gdLst/>
            <a:ahLst/>
            <a:cxnLst/>
            <a:rect l="l" t="t" r="r" b="b"/>
            <a:pathLst>
              <a:path w="8371099" h="2941460">
                <a:moveTo>
                  <a:pt x="0" y="0"/>
                </a:moveTo>
                <a:lnTo>
                  <a:pt x="8371099" y="0"/>
                </a:lnTo>
                <a:lnTo>
                  <a:pt x="8371099" y="2941460"/>
                </a:lnTo>
                <a:lnTo>
                  <a:pt x="0" y="2941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54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261605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Balancing &amp; Feature Scaling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723" y="2262592"/>
            <a:ext cx="16401577" cy="381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3759" b="1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SMOTE:</a:t>
            </a:r>
          </a:p>
          <a:p>
            <a:pPr marL="768469" lvl="1" indent="-384234" algn="l">
              <a:lnSpc>
                <a:spcPts val="4911"/>
              </a:lnSpc>
              <a:buFont typeface="Arial"/>
              <a:buChar char="•"/>
            </a:pPr>
            <a:r>
              <a:rPr lang="en-US" sz="355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Balanced the dataset by generating synthetic samples for the minority (human-written) class to prevent</a:t>
            </a:r>
            <a:r>
              <a:rPr lang="en-US" sz="35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model bias.</a:t>
            </a:r>
          </a:p>
          <a:p>
            <a:pPr algn="l">
              <a:lnSpc>
                <a:spcPts val="5187"/>
              </a:lnSpc>
            </a:pPr>
            <a:r>
              <a:rPr lang="en-US" sz="37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StandardScaler: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b="1" u="none" strike="noStrike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Normalized numerical features (zero mean, unit variance) to improve model convergence and performance consistency.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177877" y="5385148"/>
            <a:ext cx="10127328" cy="4882802"/>
          </a:xfrm>
          <a:custGeom>
            <a:avLst/>
            <a:gdLst/>
            <a:ahLst/>
            <a:cxnLst/>
            <a:rect l="l" t="t" r="r" b="b"/>
            <a:pathLst>
              <a:path w="10127328" h="4882802">
                <a:moveTo>
                  <a:pt x="0" y="0"/>
                </a:moveTo>
                <a:lnTo>
                  <a:pt x="10127328" y="0"/>
                </a:lnTo>
                <a:lnTo>
                  <a:pt x="10127328" y="4882802"/>
                </a:lnTo>
                <a:lnTo>
                  <a:pt x="0" y="488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77" b="-3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009954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 &amp;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0280" y="1638646"/>
            <a:ext cx="17857720" cy="310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TF-IDF features were more effective for traditional ML models.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XGBoost provided the best balance between accuracy and interpretability.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BERT embeddings worked better for deep models, improving contextual generalization.</a:t>
            </a:r>
          </a:p>
          <a:p>
            <a:pPr marL="755647" lvl="1" indent="-377824" algn="l">
              <a:lnSpc>
                <a:spcPts val="4829"/>
              </a:lnSpc>
              <a:buFont typeface="Arial"/>
              <a:buChar char="•"/>
            </a:pPr>
            <a:r>
              <a:rPr lang="en-US" sz="349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Stylometric analysis validated these results — AI-generated texts were shorter, more redundant, and structurally repetitive compared to human texts.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56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45812" y="1042352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595703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062363"/>
            <a:ext cx="12953291" cy="84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9"/>
              </a:lnSpc>
              <a:spcBef>
                <a:spcPct val="0"/>
              </a:spcBef>
            </a:pPr>
            <a:r>
              <a:rPr lang="en-US" sz="4999" b="1" spc="-149">
                <a:solidFill>
                  <a:srgbClr val="FFFC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272" y="1972021"/>
            <a:ext cx="17031330" cy="7254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a complete Arabic AI-text detection pipeline — from data collection to model evaluation.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Built a custom Arabic preprocessing framework with normalization, diacritics removal, stemming, and lemmatization (Stanza + ISRI).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Extracted stylometric features such as sentence count, redundancy score, short-word ratio, and vocabulary richness to capture writing patterns.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Applied SMOTE to balance the dataset and StandardScaler to normalize numerical features, ensuring fair model training and consistent performance.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Compared TF-IDF (lexical) and BERT (contextual) embeddings across classical and deep learning models.</a:t>
            </a:r>
          </a:p>
          <a:p>
            <a:pPr marL="746879" lvl="1" indent="-373440" algn="l">
              <a:lnSpc>
                <a:spcPts val="4773"/>
              </a:lnSpc>
              <a:buFont typeface="Arial"/>
              <a:buChar char="•"/>
            </a:pPr>
            <a:r>
              <a:rPr lang="en-US" sz="3459" u="none" strike="noStrike">
                <a:solidFill>
                  <a:srgbClr val="FFFC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XGBoost with TF-IDF achieved the best overall performance (95.1% accuracy, 0.950 F1-score), confirming the strength of lexical features for Arabic text classification.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66675" cap="flat">
            <a:solidFill>
              <a:srgbClr val="FFFCF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53432" y="1810096"/>
            <a:ext cx="11584761" cy="115847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89B9F">
                <a:alpha val="392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51403" y="3949090"/>
            <a:ext cx="10076630" cy="175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65"/>
              </a:lnSpc>
              <a:spcBef>
                <a:spcPct val="0"/>
              </a:spcBef>
            </a:pPr>
            <a:r>
              <a:rPr lang="en-US" sz="10220" b="1" spc="-306">
                <a:solidFill>
                  <a:srgbClr val="435663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Thanks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700" y="1019175"/>
            <a:ext cx="16139196" cy="9525"/>
          </a:xfrm>
          <a:prstGeom prst="line">
            <a:avLst/>
          </a:prstGeom>
          <a:ln w="7620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245812" y="1303350"/>
            <a:ext cx="922084" cy="230521"/>
          </a:xfrm>
          <a:custGeom>
            <a:avLst/>
            <a:gdLst/>
            <a:ahLst/>
            <a:cxnLst/>
            <a:rect l="l" t="t" r="r" b="b"/>
            <a:pathLst>
              <a:path w="922084" h="230521">
                <a:moveTo>
                  <a:pt x="0" y="0"/>
                </a:moveTo>
                <a:lnTo>
                  <a:pt x="922084" y="0"/>
                </a:lnTo>
                <a:lnTo>
                  <a:pt x="922084" y="230521"/>
                </a:lnTo>
                <a:lnTo>
                  <a:pt x="0" y="23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028700" y="9248775"/>
            <a:ext cx="16139196" cy="9525"/>
          </a:xfrm>
          <a:prstGeom prst="line">
            <a:avLst/>
          </a:prstGeom>
          <a:ln w="76200" cap="flat">
            <a:solidFill>
              <a:srgbClr val="4356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882</Words>
  <Application>Microsoft Office PowerPoint</Application>
  <PresentationFormat>Custom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 MT Bold</vt:lpstr>
      <vt:lpstr>Calibri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Analytic Techniques</dc:title>
  <cp:lastModifiedBy>shwg 167kh</cp:lastModifiedBy>
  <cp:revision>5</cp:revision>
  <dcterms:created xsi:type="dcterms:W3CDTF">2006-08-16T00:00:00Z</dcterms:created>
  <dcterms:modified xsi:type="dcterms:W3CDTF">2025-12-09T23:03:50Z</dcterms:modified>
  <dc:identifier>DAG3SJ20vl0</dc:identifier>
</cp:coreProperties>
</file>