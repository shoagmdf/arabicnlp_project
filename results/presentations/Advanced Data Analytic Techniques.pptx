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9" r:id="rId9"/>
    <p:sldId id="262" r:id="rId10"/>
    <p:sldId id="263" r:id="rId11"/>
    <p:sldId id="264" r:id="rId12"/>
    <p:sldId id="265" r:id="rId13"/>
    <p:sldId id="266" r:id="rId14"/>
    <p:sldId id="267" r:id="rId15"/>
  </p:sldIdLst>
  <p:sldSz cx="18288000" cy="10287000"/>
  <p:notesSz cx="6858000" cy="9144000"/>
  <p:embeddedFontLst>
    <p:embeddedFont>
      <p:font typeface="Times New Roman MT" panose="020B0604020202020204" charset="0"/>
      <p:regular r:id="rId17"/>
    </p:embeddedFont>
    <p:embeddedFont>
      <p:font typeface="Times New Roman MT Bold" panose="020B0604020202020204" charset="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61" d="100"/>
          <a:sy n="61" d="100"/>
        </p:scale>
        <p:origin x="34" y="3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2C2511-45A0-4E08-9E8E-9CCD7FFCD63E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99BFD2-2D4F-4E62-AAF1-616046896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8165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99BFD2-2D4F-4E62-AAF1-616046896A9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7194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99BFD2-2D4F-4E62-AAF1-616046896A9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4062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99BFD2-2D4F-4E62-AAF1-616046896A9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805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6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854849" y="-4690741"/>
            <a:ext cx="11584761" cy="11584761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CF4">
                <a:alpha val="6667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1028700" y="1019175"/>
            <a:ext cx="16139196" cy="0"/>
          </a:xfrm>
          <a:prstGeom prst="line">
            <a:avLst/>
          </a:prstGeom>
          <a:ln w="57150" cap="flat">
            <a:solidFill>
              <a:srgbClr val="4356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1949106" y="-155126"/>
            <a:ext cx="6405249" cy="3627069"/>
          </a:xfrm>
          <a:custGeom>
            <a:avLst/>
            <a:gdLst/>
            <a:ahLst/>
            <a:cxnLst/>
            <a:rect l="l" t="t" r="r" b="b"/>
            <a:pathLst>
              <a:path w="6405249" h="3627069">
                <a:moveTo>
                  <a:pt x="0" y="0"/>
                </a:moveTo>
                <a:lnTo>
                  <a:pt x="6405249" y="0"/>
                </a:lnTo>
                <a:lnTo>
                  <a:pt x="6405249" y="3627068"/>
                </a:lnTo>
                <a:lnTo>
                  <a:pt x="0" y="362706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1519850" y="3052842"/>
            <a:ext cx="15030999" cy="7065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66"/>
              </a:lnSpc>
            </a:pPr>
            <a:r>
              <a:rPr lang="en-US" sz="4377" b="1" spc="157" dirty="0">
                <a:solidFill>
                  <a:srgbClr val="435663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Title: Detection of AI-Generated Arabic Text</a:t>
            </a:r>
          </a:p>
          <a:p>
            <a:pPr algn="ctr">
              <a:lnSpc>
                <a:spcPts val="7966"/>
              </a:lnSpc>
            </a:pPr>
            <a:r>
              <a:rPr lang="en-US" sz="4377" b="1" spc="157" dirty="0">
                <a:solidFill>
                  <a:srgbClr val="435663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Course: MSIS-822 – Advanced Data Analytic Techniques</a:t>
            </a:r>
          </a:p>
          <a:p>
            <a:pPr algn="ctr">
              <a:lnSpc>
                <a:spcPts val="7966"/>
              </a:lnSpc>
            </a:pPr>
            <a:r>
              <a:rPr lang="en-US" sz="4377" b="1" spc="157" dirty="0">
                <a:solidFill>
                  <a:srgbClr val="435663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Supervised by: </a:t>
            </a:r>
            <a:r>
              <a:rPr lang="en-US" sz="4377" b="1" spc="157" dirty="0" err="1">
                <a:solidFill>
                  <a:srgbClr val="435663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Prof.Mohammed</a:t>
            </a:r>
            <a:r>
              <a:rPr lang="en-US" sz="4377" b="1" spc="157" dirty="0">
                <a:solidFill>
                  <a:srgbClr val="435663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Al-</a:t>
            </a:r>
            <a:r>
              <a:rPr lang="en-US" sz="4377" b="1" spc="157" dirty="0" err="1">
                <a:solidFill>
                  <a:srgbClr val="435663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sarem</a:t>
            </a:r>
            <a:endParaRPr lang="en-US" sz="4377" b="1" spc="157" dirty="0">
              <a:solidFill>
                <a:srgbClr val="435663"/>
              </a:solidFill>
              <a:latin typeface="Times New Roman MT Bold"/>
              <a:ea typeface="Times New Roman MT Bold"/>
              <a:cs typeface="Times New Roman MT Bold"/>
              <a:sym typeface="Times New Roman MT Bold"/>
            </a:endParaRPr>
          </a:p>
          <a:p>
            <a:pPr algn="ctr">
              <a:lnSpc>
                <a:spcPts val="7966"/>
              </a:lnSpc>
            </a:pPr>
            <a:r>
              <a:rPr lang="en-US" sz="4377" b="1" spc="157" dirty="0">
                <a:solidFill>
                  <a:srgbClr val="435663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Presented by: </a:t>
            </a:r>
            <a:r>
              <a:rPr lang="en-US" sz="4377" b="1" spc="157" dirty="0" err="1">
                <a:solidFill>
                  <a:srgbClr val="435663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Shoag</a:t>
            </a:r>
            <a:r>
              <a:rPr lang="en-US" sz="4377" b="1" spc="157" dirty="0">
                <a:solidFill>
                  <a:srgbClr val="435663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</a:t>
            </a:r>
            <a:r>
              <a:rPr lang="en-US" sz="4377" b="1" spc="157" dirty="0" err="1">
                <a:solidFill>
                  <a:srgbClr val="435663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Almodifer</a:t>
            </a:r>
            <a:endParaRPr lang="en-US" sz="4377" b="1" spc="157" dirty="0">
              <a:solidFill>
                <a:srgbClr val="435663"/>
              </a:solidFill>
              <a:latin typeface="Times New Roman MT Bold"/>
              <a:ea typeface="Times New Roman MT Bold"/>
              <a:cs typeface="Times New Roman MT Bold"/>
              <a:sym typeface="Times New Roman MT Bold"/>
            </a:endParaRPr>
          </a:p>
          <a:p>
            <a:pPr algn="ctr">
              <a:lnSpc>
                <a:spcPts val="7966"/>
              </a:lnSpc>
            </a:pPr>
            <a:r>
              <a:rPr lang="en-US" sz="4377" b="1" spc="157" dirty="0">
                <a:solidFill>
                  <a:srgbClr val="435663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Institution: Taibah University</a:t>
            </a:r>
          </a:p>
          <a:p>
            <a:pPr algn="ctr">
              <a:lnSpc>
                <a:spcPts val="7966"/>
              </a:lnSpc>
            </a:pPr>
            <a:endParaRPr lang="en-US" sz="4377" b="1" spc="157" dirty="0">
              <a:solidFill>
                <a:srgbClr val="435663"/>
              </a:solidFill>
              <a:latin typeface="Times New Roman MT Bold"/>
              <a:ea typeface="Times New Roman MT Bold"/>
              <a:cs typeface="Times New Roman MT Bold"/>
              <a:sym typeface="Times New Roman MT Bold"/>
            </a:endParaRPr>
          </a:p>
          <a:p>
            <a:pPr algn="ctr">
              <a:lnSpc>
                <a:spcPts val="7966"/>
              </a:lnSpc>
            </a:pPr>
            <a:endParaRPr lang="en-US" sz="4377" b="1" spc="157" dirty="0">
              <a:solidFill>
                <a:srgbClr val="435663"/>
              </a:solidFill>
              <a:latin typeface="Times New Roman MT Bold"/>
              <a:ea typeface="Times New Roman MT Bold"/>
              <a:cs typeface="Times New Roman MT Bold"/>
              <a:sym typeface="Times New Roman MT 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56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453432" y="1810096"/>
            <a:ext cx="11584761" cy="11584761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89B9F">
                <a:alpha val="3922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 flipV="1">
            <a:off x="1028700" y="1019175"/>
            <a:ext cx="16139196" cy="9525"/>
          </a:xfrm>
          <a:prstGeom prst="line">
            <a:avLst/>
          </a:prstGeom>
          <a:ln w="66675" cap="flat">
            <a:solidFill>
              <a:srgbClr val="FFFCF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6245812" y="1303350"/>
            <a:ext cx="922084" cy="230521"/>
          </a:xfrm>
          <a:custGeom>
            <a:avLst/>
            <a:gdLst/>
            <a:ahLst/>
            <a:cxnLst/>
            <a:rect l="l" t="t" r="r" b="b"/>
            <a:pathLst>
              <a:path w="922084" h="230521">
                <a:moveTo>
                  <a:pt x="0" y="0"/>
                </a:moveTo>
                <a:lnTo>
                  <a:pt x="922084" y="0"/>
                </a:lnTo>
                <a:lnTo>
                  <a:pt x="922084" y="230521"/>
                </a:lnTo>
                <a:lnTo>
                  <a:pt x="0" y="23052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AutoShape 7"/>
          <p:cNvSpPr/>
          <p:nvPr/>
        </p:nvSpPr>
        <p:spPr>
          <a:xfrm flipV="1">
            <a:off x="1028700" y="9248775"/>
            <a:ext cx="16139196" cy="9525"/>
          </a:xfrm>
          <a:prstGeom prst="line">
            <a:avLst/>
          </a:prstGeom>
          <a:ln w="66675" cap="flat">
            <a:solidFill>
              <a:srgbClr val="FFFCF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12657899" y="2389457"/>
            <a:ext cx="4680499" cy="6064562"/>
          </a:xfrm>
          <a:custGeom>
            <a:avLst/>
            <a:gdLst/>
            <a:ahLst/>
            <a:cxnLst/>
            <a:rect l="l" t="t" r="r" b="b"/>
            <a:pathLst>
              <a:path w="4680499" h="6064562">
                <a:moveTo>
                  <a:pt x="0" y="0"/>
                </a:moveTo>
                <a:lnTo>
                  <a:pt x="4680499" y="0"/>
                </a:lnTo>
                <a:lnTo>
                  <a:pt x="4680499" y="6064562"/>
                </a:lnTo>
                <a:lnTo>
                  <a:pt x="0" y="60645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917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TextBox 9"/>
          <p:cNvSpPr txBox="1"/>
          <p:nvPr/>
        </p:nvSpPr>
        <p:spPr>
          <a:xfrm>
            <a:off x="1028700" y="1510893"/>
            <a:ext cx="12953291" cy="847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999"/>
              </a:lnSpc>
              <a:spcBef>
                <a:spcPct val="0"/>
              </a:spcBef>
            </a:pPr>
            <a:r>
              <a:rPr lang="en-US" sz="4999" b="1" spc="-149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Problem Statement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09650" y="2798375"/>
            <a:ext cx="11191464" cy="51014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86194" lvl="1" indent="-393097" algn="l">
              <a:lnSpc>
                <a:spcPts val="5025"/>
              </a:lnSpc>
              <a:buFont typeface="Arial"/>
              <a:buChar char="•"/>
            </a:pPr>
            <a:r>
              <a:rPr lang="en-US" sz="3641" u="none" strike="noStrike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In recent </a:t>
            </a:r>
            <a:r>
              <a:rPr lang="en-US" sz="3641" u="none" strike="noStrike" dirty="0" err="1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years,</a:t>
            </a:r>
            <a:r>
              <a:rPr lang="en-US" sz="3641" dirty="0" err="1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l</a:t>
            </a:r>
            <a:r>
              <a:rPr lang="en-US" sz="3641" u="none" strike="noStrike" dirty="0" err="1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arge</a:t>
            </a:r>
            <a:r>
              <a:rPr lang="en-US" sz="3641" u="none" strike="noStrike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Language Models (LLMs) like GPT-4, </a:t>
            </a:r>
            <a:r>
              <a:rPr lang="en-US" sz="3641" u="none" strike="noStrike" dirty="0" err="1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LLaMA</a:t>
            </a:r>
            <a:r>
              <a:rPr lang="en-US" sz="3641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and</a:t>
            </a:r>
            <a:r>
              <a:rPr lang="en-US" sz="3641" u="none" strike="noStrike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Jais can generate Arabic text that is almost identical to human writing.</a:t>
            </a:r>
          </a:p>
          <a:p>
            <a:pPr marL="786194" lvl="1" indent="-393097">
              <a:lnSpc>
                <a:spcPts val="5025"/>
              </a:lnSpc>
              <a:buFont typeface="Arial"/>
              <a:buChar char="•"/>
            </a:pPr>
            <a:r>
              <a:rPr lang="en-US" sz="3641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Arabic AI-text detection is still underdeveloped compared to English, due to t</a:t>
            </a:r>
            <a:r>
              <a:rPr lang="en-US" sz="3641" u="none" strike="noStrike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he lack of annotated Arabic datasets.</a:t>
            </a:r>
          </a:p>
          <a:p>
            <a:pPr marL="786194" lvl="1" indent="-393097">
              <a:lnSpc>
                <a:spcPts val="5025"/>
              </a:lnSpc>
              <a:buFont typeface="Arial"/>
              <a:buChar char="•"/>
            </a:pPr>
            <a:r>
              <a:rPr lang="en-US" sz="3641" u="none" strike="noStrike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This raises some risks regarding academic integrity, fake research, and digital misinformation.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56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453432" y="1810096"/>
            <a:ext cx="11584761" cy="11584761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89B9F">
                <a:alpha val="3922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028700" y="1386213"/>
            <a:ext cx="12953291" cy="847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999"/>
              </a:lnSpc>
              <a:spcBef>
                <a:spcPct val="0"/>
              </a:spcBef>
            </a:pPr>
            <a:r>
              <a:rPr lang="en-US" sz="4999" b="1" spc="-149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Preprocessing &amp; Data Normalization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2453055"/>
            <a:ext cx="16766112" cy="6382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67"/>
              </a:lnSpc>
            </a:pPr>
            <a:r>
              <a:rPr lang="en-US" sz="3599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</a:t>
            </a:r>
            <a:r>
              <a:rPr lang="en-US" sz="3599" u="none" strike="noStrike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multi-stage preprocessing pipeline was implemented to handle the linguistic complexity of Arabic text:</a:t>
            </a:r>
          </a:p>
          <a:p>
            <a:pPr marL="777237" lvl="1" indent="-388618" algn="l">
              <a:lnSpc>
                <a:spcPts val="4967"/>
              </a:lnSpc>
              <a:buFont typeface="Arial"/>
              <a:buChar char="•"/>
            </a:pPr>
            <a:r>
              <a:rPr lang="en-US" sz="3599" b="1" u="none" strike="noStrike" dirty="0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Text Normalization:</a:t>
            </a:r>
          </a:p>
          <a:p>
            <a:pPr marL="1554474" lvl="2" indent="-518158" algn="l">
              <a:lnSpc>
                <a:spcPts val="4967"/>
              </a:lnSpc>
              <a:buFont typeface="Arial"/>
              <a:buChar char="⚬"/>
            </a:pPr>
            <a:r>
              <a:rPr lang="en-US" sz="3599" u="none" strike="noStrike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Unify letter forms (</a:t>
            </a:r>
            <a:r>
              <a:rPr lang="ar-EG" sz="3599" u="none" strike="noStrike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  <a:rtl/>
              </a:rPr>
              <a:t>أ / إ / آ →  ا</a:t>
            </a:r>
            <a:r>
              <a:rPr lang="en-US" sz="3599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  <a:rtl/>
              </a:rPr>
              <a:t>   )</a:t>
            </a:r>
            <a:endParaRPr lang="ar-SA" sz="3599" dirty="0">
              <a:solidFill>
                <a:srgbClr val="FFFCF4"/>
              </a:solidFill>
              <a:latin typeface="Times New Roman MT"/>
              <a:ea typeface="Times New Roman MT"/>
              <a:cs typeface="Times New Roman MT"/>
              <a:sym typeface="Times New Roman MT"/>
              <a:rtl/>
            </a:endParaRPr>
          </a:p>
          <a:p>
            <a:pPr marL="1554474" lvl="2" indent="-518158" algn="l">
              <a:lnSpc>
                <a:spcPts val="4967"/>
              </a:lnSpc>
              <a:buFont typeface="Arial"/>
              <a:buChar char="⚬"/>
            </a:pPr>
            <a:r>
              <a:rPr lang="en-US" sz="3599" u="none" strike="noStrike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Remove diacritics (</a:t>
            </a:r>
            <a:r>
              <a:rPr lang="en-US" sz="3599" u="none" strike="noStrike" dirty="0" err="1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tashkeel</a:t>
            </a:r>
            <a:r>
              <a:rPr lang="en-US" sz="3599" u="none" strike="noStrike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), digits, and special symbols.</a:t>
            </a:r>
          </a:p>
          <a:p>
            <a:pPr marL="777237" lvl="1" indent="-388618" algn="l">
              <a:lnSpc>
                <a:spcPts val="4967"/>
              </a:lnSpc>
              <a:buFont typeface="Arial"/>
              <a:buChar char="•"/>
            </a:pPr>
            <a:r>
              <a:rPr lang="en-US" sz="3599" b="1" u="none" strike="noStrike" dirty="0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Structural Cleaning:</a:t>
            </a:r>
          </a:p>
          <a:p>
            <a:pPr marL="1554474" lvl="2" indent="-518158" algn="l">
              <a:lnSpc>
                <a:spcPts val="4967"/>
              </a:lnSpc>
              <a:buFont typeface="Arial"/>
              <a:buChar char="⚬"/>
            </a:pPr>
            <a:r>
              <a:rPr lang="en-US" sz="3599" u="none" strike="noStrike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Remove HTML tags, URLs, and email addresses.</a:t>
            </a:r>
          </a:p>
          <a:p>
            <a:pPr marL="1554474" lvl="2" indent="-518158" algn="l">
              <a:lnSpc>
                <a:spcPts val="4967"/>
              </a:lnSpc>
              <a:buFont typeface="Arial"/>
              <a:buChar char="⚬"/>
            </a:pPr>
            <a:r>
              <a:rPr lang="en-US" sz="3599" u="none" strike="noStrike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Delete repeated punctuation and character elongations.</a:t>
            </a:r>
          </a:p>
          <a:p>
            <a:pPr marL="1554474" lvl="2" indent="-518158" algn="l">
              <a:lnSpc>
                <a:spcPts val="4967"/>
              </a:lnSpc>
              <a:buFont typeface="Arial"/>
              <a:buChar char="⚬"/>
            </a:pPr>
            <a:r>
              <a:rPr lang="en-US" sz="3599" u="none" strike="noStrike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Normalize whitespace.</a:t>
            </a:r>
          </a:p>
          <a:p>
            <a:pPr algn="l">
              <a:lnSpc>
                <a:spcPts val="4967"/>
              </a:lnSpc>
            </a:pPr>
            <a:endParaRPr lang="en-US" sz="3599" u="none" strike="noStrike" dirty="0">
              <a:solidFill>
                <a:srgbClr val="FFFCF4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</p:txBody>
      </p:sp>
      <p:sp>
        <p:nvSpPr>
          <p:cNvPr id="7" name="Freeform 7"/>
          <p:cNvSpPr/>
          <p:nvPr/>
        </p:nvSpPr>
        <p:spPr>
          <a:xfrm>
            <a:off x="16245812" y="1303350"/>
            <a:ext cx="922084" cy="230521"/>
          </a:xfrm>
          <a:custGeom>
            <a:avLst/>
            <a:gdLst/>
            <a:ahLst/>
            <a:cxnLst/>
            <a:rect l="l" t="t" r="r" b="b"/>
            <a:pathLst>
              <a:path w="922084" h="230521">
                <a:moveTo>
                  <a:pt x="0" y="0"/>
                </a:moveTo>
                <a:lnTo>
                  <a:pt x="922084" y="0"/>
                </a:lnTo>
                <a:lnTo>
                  <a:pt x="922084" y="230521"/>
                </a:lnTo>
                <a:lnTo>
                  <a:pt x="0" y="23052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AutoShape 8"/>
          <p:cNvSpPr/>
          <p:nvPr/>
        </p:nvSpPr>
        <p:spPr>
          <a:xfrm flipV="1">
            <a:off x="1028700" y="9429857"/>
            <a:ext cx="16139196" cy="9525"/>
          </a:xfrm>
          <a:prstGeom prst="line">
            <a:avLst/>
          </a:prstGeom>
          <a:ln w="76200" cap="flat">
            <a:solidFill>
              <a:srgbClr val="FFFCF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AutoShape 9"/>
          <p:cNvSpPr/>
          <p:nvPr/>
        </p:nvSpPr>
        <p:spPr>
          <a:xfrm flipV="1">
            <a:off x="1028700" y="1019175"/>
            <a:ext cx="16139196" cy="9525"/>
          </a:xfrm>
          <a:prstGeom prst="line">
            <a:avLst/>
          </a:prstGeom>
          <a:ln w="66675" cap="flat">
            <a:solidFill>
              <a:srgbClr val="FFFCF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56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453432" y="1810096"/>
            <a:ext cx="11584761" cy="11584761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89B9F">
                <a:alpha val="3922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028700" y="1348113"/>
            <a:ext cx="12953291" cy="847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999"/>
              </a:lnSpc>
              <a:spcBef>
                <a:spcPct val="0"/>
              </a:spcBef>
            </a:pPr>
            <a:r>
              <a:rPr lang="en-US" sz="4999" b="1" spc="-149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Preprocessing &amp; Data Normalization Con’t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2389543"/>
            <a:ext cx="16766112" cy="4458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77237" lvl="1" indent="-388618" algn="l">
              <a:lnSpc>
                <a:spcPts val="4967"/>
              </a:lnSpc>
              <a:buFont typeface="Arial"/>
              <a:buChar char="•"/>
            </a:pPr>
            <a:r>
              <a:rPr lang="en-US" sz="3599" b="1" u="none" strike="noStrike" dirty="0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Tokenization &amp; </a:t>
            </a:r>
            <a:r>
              <a:rPr lang="en-US" sz="3599" b="1" u="none" strike="noStrike" dirty="0" err="1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Stopword</a:t>
            </a:r>
            <a:r>
              <a:rPr lang="en-US" sz="3599" b="1" u="none" strike="noStrike" dirty="0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Removal:</a:t>
            </a:r>
          </a:p>
          <a:p>
            <a:pPr marL="1554474" lvl="2" indent="-518158" algn="l">
              <a:lnSpc>
                <a:spcPts val="4967"/>
              </a:lnSpc>
              <a:buFont typeface="Arial"/>
              <a:buChar char="⚬"/>
            </a:pPr>
            <a:r>
              <a:rPr lang="en-US" sz="3599" u="none" strike="noStrike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Used NLTK Arabic tokenizer and extended the </a:t>
            </a:r>
            <a:r>
              <a:rPr lang="en-US" sz="3599" u="none" strike="noStrike" dirty="0" err="1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stopword</a:t>
            </a:r>
            <a:r>
              <a:rPr lang="en-US" sz="3599" u="none" strike="noStrike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lists.</a:t>
            </a:r>
          </a:p>
          <a:p>
            <a:pPr marL="777237" lvl="1" indent="-388618" algn="l">
              <a:lnSpc>
                <a:spcPts val="4967"/>
              </a:lnSpc>
              <a:buFont typeface="Arial"/>
              <a:buChar char="•"/>
            </a:pPr>
            <a:r>
              <a:rPr lang="en-US" sz="3599" b="1" u="none" strike="noStrike" dirty="0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Morphological Processing:</a:t>
            </a:r>
          </a:p>
          <a:p>
            <a:pPr marL="1554474" lvl="2" indent="-518158" algn="l">
              <a:lnSpc>
                <a:spcPts val="4967"/>
              </a:lnSpc>
              <a:buFont typeface="Arial"/>
              <a:buChar char="⚬"/>
            </a:pPr>
            <a:r>
              <a:rPr lang="en-US" sz="3599" u="none" strike="noStrike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ISRI stemming to reduce words to root forms.</a:t>
            </a:r>
          </a:p>
          <a:p>
            <a:pPr marL="1554474" lvl="2" indent="-518158" algn="l">
              <a:lnSpc>
                <a:spcPts val="4967"/>
              </a:lnSpc>
              <a:buFont typeface="Arial"/>
              <a:buChar char="⚬"/>
            </a:pPr>
            <a:r>
              <a:rPr lang="en-US" sz="3599" u="none" strike="noStrike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Stanza lemmatization to preserve grammatical meaning.</a:t>
            </a:r>
          </a:p>
          <a:p>
            <a:pPr marL="777237" lvl="1" indent="-388618" algn="l">
              <a:lnSpc>
                <a:spcPts val="4967"/>
              </a:lnSpc>
              <a:buFont typeface="Arial"/>
              <a:buChar char="•"/>
            </a:pPr>
            <a:r>
              <a:rPr lang="en-US" sz="3599" b="1" u="none" strike="noStrike" dirty="0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Quality Assurance:</a:t>
            </a:r>
          </a:p>
          <a:p>
            <a:pPr marL="1554474" lvl="2" indent="-518158" algn="l">
              <a:lnSpc>
                <a:spcPts val="4967"/>
              </a:lnSpc>
              <a:buFont typeface="Arial"/>
              <a:buChar char="⚬"/>
            </a:pPr>
            <a:r>
              <a:rPr lang="en-US" sz="3599" u="none" strike="noStrike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Logs were used to track preprocessing errors.</a:t>
            </a:r>
          </a:p>
        </p:txBody>
      </p:sp>
      <p:sp>
        <p:nvSpPr>
          <p:cNvPr id="7" name="AutoShape 7"/>
          <p:cNvSpPr/>
          <p:nvPr/>
        </p:nvSpPr>
        <p:spPr>
          <a:xfrm flipV="1">
            <a:off x="1028700" y="931875"/>
            <a:ext cx="16139196" cy="9525"/>
          </a:xfrm>
          <a:prstGeom prst="line">
            <a:avLst/>
          </a:prstGeom>
          <a:ln w="66675" cap="flat">
            <a:solidFill>
              <a:srgbClr val="FFFCF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16245812" y="1303350"/>
            <a:ext cx="922084" cy="230521"/>
          </a:xfrm>
          <a:custGeom>
            <a:avLst/>
            <a:gdLst/>
            <a:ahLst/>
            <a:cxnLst/>
            <a:rect l="l" t="t" r="r" b="b"/>
            <a:pathLst>
              <a:path w="922084" h="230521">
                <a:moveTo>
                  <a:pt x="0" y="0"/>
                </a:moveTo>
                <a:lnTo>
                  <a:pt x="922084" y="0"/>
                </a:lnTo>
                <a:lnTo>
                  <a:pt x="922084" y="230521"/>
                </a:lnTo>
                <a:lnTo>
                  <a:pt x="0" y="23052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AutoShape 9"/>
          <p:cNvSpPr/>
          <p:nvPr/>
        </p:nvSpPr>
        <p:spPr>
          <a:xfrm flipV="1">
            <a:off x="1028700" y="9429857"/>
            <a:ext cx="16139196" cy="9525"/>
          </a:xfrm>
          <a:prstGeom prst="line">
            <a:avLst/>
          </a:prstGeom>
          <a:ln w="76200" cap="flat">
            <a:solidFill>
              <a:srgbClr val="FFFCF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56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453432" y="1810096"/>
            <a:ext cx="11584761" cy="11584761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89B9F">
                <a:alpha val="3922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6245812" y="1303350"/>
            <a:ext cx="922084" cy="230521"/>
          </a:xfrm>
          <a:custGeom>
            <a:avLst/>
            <a:gdLst/>
            <a:ahLst/>
            <a:cxnLst/>
            <a:rect l="l" t="t" r="r" b="b"/>
            <a:pathLst>
              <a:path w="922084" h="230521">
                <a:moveTo>
                  <a:pt x="0" y="0"/>
                </a:moveTo>
                <a:lnTo>
                  <a:pt x="922084" y="0"/>
                </a:lnTo>
                <a:lnTo>
                  <a:pt x="922084" y="230521"/>
                </a:lnTo>
                <a:lnTo>
                  <a:pt x="0" y="23052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AutoShape 6"/>
          <p:cNvSpPr/>
          <p:nvPr/>
        </p:nvSpPr>
        <p:spPr>
          <a:xfrm flipV="1">
            <a:off x="1028700" y="9553575"/>
            <a:ext cx="16139196" cy="9525"/>
          </a:xfrm>
          <a:prstGeom prst="line">
            <a:avLst/>
          </a:prstGeom>
          <a:ln w="66675" cap="flat">
            <a:solidFill>
              <a:srgbClr val="FFFCF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1028700" y="1237172"/>
            <a:ext cx="12953291" cy="847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999"/>
              </a:lnSpc>
              <a:spcBef>
                <a:spcPct val="0"/>
              </a:spcBef>
            </a:pPr>
            <a:r>
              <a:rPr lang="en-US" sz="4999" b="1" spc="-149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Feature Engineering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12405" y="2112435"/>
            <a:ext cx="16546895" cy="44536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77242" lvl="1" indent="-388621" algn="l">
              <a:lnSpc>
                <a:spcPts val="4968"/>
              </a:lnSpc>
              <a:buAutoNum type="arabicPeriod"/>
            </a:pPr>
            <a:r>
              <a:rPr lang="en-US" sz="3600" b="1" dirty="0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Short Word Ratio (≤ 3 letters)</a:t>
            </a:r>
          </a:p>
          <a:p>
            <a:pPr marL="777242" lvl="1" indent="-388621" algn="l">
              <a:lnSpc>
                <a:spcPts val="4968"/>
              </a:lnSpc>
              <a:buFont typeface="Arial"/>
              <a:buChar char="•"/>
            </a:pPr>
            <a:r>
              <a:rPr lang="en-US" sz="3600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AI:</a:t>
            </a:r>
          </a:p>
          <a:p>
            <a:pPr marL="1554483" lvl="2" indent="-518161" algn="l">
              <a:lnSpc>
                <a:spcPts val="4968"/>
              </a:lnSpc>
              <a:buFont typeface="Arial"/>
              <a:buChar char="⚬"/>
            </a:pPr>
            <a:r>
              <a:rPr lang="en-US" sz="3600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Jais: 10.8% (highest – frequent short connectors).</a:t>
            </a:r>
          </a:p>
          <a:p>
            <a:pPr marL="1554483" lvl="2" indent="-518161" algn="l">
              <a:lnSpc>
                <a:spcPts val="4968"/>
              </a:lnSpc>
              <a:buFont typeface="Arial"/>
              <a:buChar char="⚬"/>
            </a:pPr>
            <a:r>
              <a:rPr lang="en-US" sz="3600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Allam: 9.7%, </a:t>
            </a:r>
            <a:r>
              <a:rPr lang="en-US" sz="3600" dirty="0" err="1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LLaMA</a:t>
            </a:r>
            <a:r>
              <a:rPr lang="en-US" sz="3600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: 8.9%, OpenAI: 8.1%.</a:t>
            </a:r>
          </a:p>
          <a:p>
            <a:pPr marL="777242" lvl="1" indent="-388621" algn="l">
              <a:lnSpc>
                <a:spcPts val="4968"/>
              </a:lnSpc>
              <a:buFont typeface="Arial"/>
              <a:buChar char="•"/>
            </a:pPr>
            <a:r>
              <a:rPr lang="en-US" sz="3600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Original: 9.8% (natural use of short function words).</a:t>
            </a:r>
          </a:p>
          <a:p>
            <a:pPr algn="l">
              <a:lnSpc>
                <a:spcPts val="4968"/>
              </a:lnSpc>
            </a:pPr>
            <a:r>
              <a:rPr lang="en-US" sz="3600" b="1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Insight: Human and Jais texts include more short connectives and functional words </a:t>
            </a:r>
          </a:p>
          <a:p>
            <a:pPr algn="l">
              <a:lnSpc>
                <a:spcPts val="4968"/>
              </a:lnSpc>
            </a:pPr>
            <a:r>
              <a:rPr lang="en-US" sz="3600" b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Arial" panose="020B0604020202020204" pitchFamily="34" charset="0"/>
              </a:rPr>
              <a:t>(e.g., “</a:t>
            </a:r>
            <a:r>
              <a:rPr lang="ar-SA" sz="3600" b="1" dirty="0">
                <a:solidFill>
                  <a:schemeClr val="bg1"/>
                </a:solidFill>
                <a:effectLst/>
                <a:ea typeface="Arial" panose="020B0604020202020204" pitchFamily="34" charset="0"/>
                <a:cs typeface="Times New Roman" panose="02020603050405020304" pitchFamily="18" charset="0"/>
              </a:rPr>
              <a:t>في”, “من”, “عن</a:t>
            </a:r>
            <a:r>
              <a:rPr lang="en-US" sz="3600" b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Arial" panose="020B0604020202020204" pitchFamily="34" charset="0"/>
              </a:rPr>
              <a:t>”).</a:t>
            </a:r>
            <a:endParaRPr lang="en-US" sz="3600" dirty="0">
              <a:solidFill>
                <a:srgbClr val="FFFCF4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</p:txBody>
      </p:sp>
      <p:sp>
        <p:nvSpPr>
          <p:cNvPr id="9" name="AutoShape 9"/>
          <p:cNvSpPr/>
          <p:nvPr/>
        </p:nvSpPr>
        <p:spPr>
          <a:xfrm flipV="1">
            <a:off x="1028700" y="1019175"/>
            <a:ext cx="16139196" cy="9525"/>
          </a:xfrm>
          <a:prstGeom prst="line">
            <a:avLst/>
          </a:prstGeom>
          <a:ln w="66675" cap="flat">
            <a:solidFill>
              <a:srgbClr val="FFFCF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56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5"/>
          <p:cNvSpPr/>
          <p:nvPr/>
        </p:nvSpPr>
        <p:spPr>
          <a:xfrm>
            <a:off x="16245812" y="1303350"/>
            <a:ext cx="922084" cy="230521"/>
          </a:xfrm>
          <a:custGeom>
            <a:avLst/>
            <a:gdLst/>
            <a:ahLst/>
            <a:cxnLst/>
            <a:rect l="l" t="t" r="r" b="b"/>
            <a:pathLst>
              <a:path w="922084" h="230521">
                <a:moveTo>
                  <a:pt x="0" y="0"/>
                </a:moveTo>
                <a:lnTo>
                  <a:pt x="922084" y="0"/>
                </a:lnTo>
                <a:lnTo>
                  <a:pt x="922084" y="230521"/>
                </a:lnTo>
                <a:lnTo>
                  <a:pt x="0" y="23052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AutoShape 6"/>
          <p:cNvSpPr/>
          <p:nvPr/>
        </p:nvSpPr>
        <p:spPr>
          <a:xfrm flipV="1">
            <a:off x="1028700" y="9771232"/>
            <a:ext cx="16139196" cy="9525"/>
          </a:xfrm>
          <a:prstGeom prst="line">
            <a:avLst/>
          </a:prstGeom>
          <a:ln w="66675" cap="flat">
            <a:solidFill>
              <a:srgbClr val="FFFCF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1028700" y="1129038"/>
            <a:ext cx="12953291" cy="847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999"/>
              </a:lnSpc>
              <a:spcBef>
                <a:spcPct val="0"/>
              </a:spcBef>
            </a:pPr>
            <a:r>
              <a:rPr lang="en-US" sz="4999" b="1" spc="-149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Feature Engineering Con’t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238171" y="2091105"/>
            <a:ext cx="16619549" cy="42007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19"/>
              </a:lnSpc>
            </a:pPr>
            <a:r>
              <a:rPr lang="en-US" sz="3999" b="1" dirty="0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2. Sentence Count </a:t>
            </a:r>
          </a:p>
          <a:p>
            <a:pPr marL="863598" lvl="1" indent="-431799" algn="l">
              <a:lnSpc>
                <a:spcPts val="5519"/>
              </a:lnSpc>
              <a:buFont typeface="Arial"/>
              <a:buChar char="•"/>
            </a:pPr>
            <a:r>
              <a:rPr lang="en-US" sz="3999" dirty="0">
                <a:solidFill>
                  <a:srgbClr val="FFFCF4"/>
                </a:solidFill>
                <a:latin typeface="Times New Roman MT" panose="020B0604020202020204" charset="0"/>
                <a:ea typeface="Times New Roman MT Bold"/>
                <a:cs typeface="Times New Roman MT Bold"/>
                <a:sym typeface="Times New Roman MT Bold"/>
              </a:rPr>
              <a:t>AI:</a:t>
            </a:r>
          </a:p>
          <a:p>
            <a:pPr marL="431799" lvl="1" algn="l">
              <a:lnSpc>
                <a:spcPts val="5519"/>
              </a:lnSpc>
            </a:pPr>
            <a:r>
              <a:rPr lang="en-US" sz="3999" dirty="0">
                <a:solidFill>
                  <a:srgbClr val="FFFCF4"/>
                </a:solidFill>
                <a:latin typeface="Times New Roman MT" panose="020B0604020202020204" charset="0"/>
                <a:ea typeface="Times New Roman MT Bold"/>
                <a:cs typeface="Times New Roman MT Bold"/>
                <a:sym typeface="Times New Roman MT Bold"/>
              </a:rPr>
              <a:t>Allam: 4.49, Jais: 5.91, </a:t>
            </a:r>
            <a:r>
              <a:rPr lang="en-US" sz="3999" dirty="0" err="1">
                <a:solidFill>
                  <a:srgbClr val="FFFCF4"/>
                </a:solidFill>
                <a:latin typeface="Times New Roman MT" panose="020B0604020202020204" charset="0"/>
                <a:ea typeface="Times New Roman MT Bold"/>
                <a:cs typeface="Times New Roman MT Bold"/>
                <a:sym typeface="Times New Roman MT Bold"/>
              </a:rPr>
              <a:t>LLaMA</a:t>
            </a:r>
            <a:r>
              <a:rPr lang="en-US" sz="3999" dirty="0">
                <a:solidFill>
                  <a:srgbClr val="FFFCF4"/>
                </a:solidFill>
                <a:latin typeface="Times New Roman MT" panose="020B0604020202020204" charset="0"/>
                <a:ea typeface="Times New Roman MT Bold"/>
                <a:cs typeface="Times New Roman MT Bold"/>
                <a:sym typeface="Times New Roman MT Bold"/>
              </a:rPr>
              <a:t>: 5.66, OpenAI: 6.50 sentences on average.</a:t>
            </a:r>
          </a:p>
          <a:p>
            <a:pPr marL="863598" lvl="1" indent="-431799" algn="l">
              <a:lnSpc>
                <a:spcPts val="5519"/>
              </a:lnSpc>
              <a:buFont typeface="Arial"/>
              <a:buChar char="•"/>
            </a:pPr>
            <a:r>
              <a:rPr lang="en-US" sz="3999" dirty="0">
                <a:solidFill>
                  <a:srgbClr val="FFFCF4"/>
                </a:solidFill>
                <a:latin typeface="Times New Roman MT" panose="020B0604020202020204" charset="0"/>
                <a:ea typeface="Times New Roman MT Bold"/>
                <a:cs typeface="Times New Roman MT Bold"/>
                <a:sym typeface="Times New Roman MT Bold"/>
              </a:rPr>
              <a:t>Original: 7.43 sentences (longer and more complex).</a:t>
            </a:r>
          </a:p>
          <a:p>
            <a:pPr algn="l">
              <a:lnSpc>
                <a:spcPts val="5519"/>
              </a:lnSpc>
            </a:pPr>
            <a:r>
              <a:rPr lang="en-US" sz="3999" b="1" dirty="0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Insight: Human texts are more segmented and syntactically rich while AI outputs are concise and dense.</a:t>
            </a:r>
          </a:p>
        </p:txBody>
      </p:sp>
      <p:sp>
        <p:nvSpPr>
          <p:cNvPr id="9" name="AutoShape 9"/>
          <p:cNvSpPr/>
          <p:nvPr/>
        </p:nvSpPr>
        <p:spPr>
          <a:xfrm flipV="1">
            <a:off x="1028700" y="1019175"/>
            <a:ext cx="16139196" cy="9525"/>
          </a:xfrm>
          <a:prstGeom prst="line">
            <a:avLst/>
          </a:prstGeom>
          <a:ln w="66675" cap="flat">
            <a:solidFill>
              <a:srgbClr val="FFFCF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566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6599C3-DD1C-AED6-0543-260C08933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5">
            <a:extLst>
              <a:ext uri="{FF2B5EF4-FFF2-40B4-BE49-F238E27FC236}">
                <a16:creationId xmlns:a16="http://schemas.microsoft.com/office/drawing/2014/main" id="{419F7953-550B-5ABC-8564-E24BA10212CC}"/>
              </a:ext>
            </a:extLst>
          </p:cNvPr>
          <p:cNvSpPr/>
          <p:nvPr/>
        </p:nvSpPr>
        <p:spPr>
          <a:xfrm>
            <a:off x="16245812" y="1303350"/>
            <a:ext cx="922084" cy="230521"/>
          </a:xfrm>
          <a:custGeom>
            <a:avLst/>
            <a:gdLst/>
            <a:ahLst/>
            <a:cxnLst/>
            <a:rect l="l" t="t" r="r" b="b"/>
            <a:pathLst>
              <a:path w="922084" h="230521">
                <a:moveTo>
                  <a:pt x="0" y="0"/>
                </a:moveTo>
                <a:lnTo>
                  <a:pt x="922084" y="0"/>
                </a:lnTo>
                <a:lnTo>
                  <a:pt x="922084" y="230521"/>
                </a:lnTo>
                <a:lnTo>
                  <a:pt x="0" y="23052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793E0F95-1D95-14F1-80C4-C4E6DD900D09}"/>
              </a:ext>
            </a:extLst>
          </p:cNvPr>
          <p:cNvSpPr/>
          <p:nvPr/>
        </p:nvSpPr>
        <p:spPr>
          <a:xfrm flipV="1">
            <a:off x="1028700" y="9771232"/>
            <a:ext cx="16139196" cy="9525"/>
          </a:xfrm>
          <a:prstGeom prst="line">
            <a:avLst/>
          </a:prstGeom>
          <a:ln w="66675" cap="flat">
            <a:solidFill>
              <a:srgbClr val="FFFCF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EA5FB0B0-2E26-0011-3877-DB43E9DCAAAF}"/>
              </a:ext>
            </a:extLst>
          </p:cNvPr>
          <p:cNvSpPr txBox="1"/>
          <p:nvPr/>
        </p:nvSpPr>
        <p:spPr>
          <a:xfrm>
            <a:off x="1028700" y="1129038"/>
            <a:ext cx="12953291" cy="847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999"/>
              </a:lnSpc>
              <a:spcBef>
                <a:spcPct val="0"/>
              </a:spcBef>
            </a:pPr>
            <a:r>
              <a:rPr lang="en-US" sz="4999" b="1" spc="-149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Feature Engineering Con’t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FEE118B6-BB4B-C694-2592-452A4223FFA0}"/>
              </a:ext>
            </a:extLst>
          </p:cNvPr>
          <p:cNvSpPr txBox="1"/>
          <p:nvPr/>
        </p:nvSpPr>
        <p:spPr>
          <a:xfrm>
            <a:off x="1238171" y="2091105"/>
            <a:ext cx="16619549" cy="3480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19"/>
              </a:lnSpc>
            </a:pPr>
            <a:r>
              <a:rPr lang="en-US" sz="3999" b="1" dirty="0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3.</a:t>
            </a:r>
            <a:r>
              <a:rPr lang="en-GB" sz="3999" b="1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Active Voice Sentences Count</a:t>
            </a:r>
          </a:p>
          <a:p>
            <a:pPr marL="571500" indent="-571500">
              <a:lnSpc>
                <a:spcPts val="5519"/>
              </a:lnSpc>
              <a:buFont typeface="Arial" panose="020B0604020202020204" pitchFamily="34" charset="0"/>
              <a:buChar char="•"/>
            </a:pPr>
            <a:r>
              <a:rPr lang="en-GB" sz="3999" b="1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Allam: 1.83, OpenAI: 1.32,Jais: 1.31, and </a:t>
            </a:r>
            <a:r>
              <a:rPr lang="en-GB" sz="3999" b="1" dirty="0" err="1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LLaMA</a:t>
            </a:r>
            <a:r>
              <a:rPr lang="en-GB" sz="3999" b="1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: 1.24. </a:t>
            </a:r>
          </a:p>
          <a:p>
            <a:pPr marL="571500" indent="-571500">
              <a:lnSpc>
                <a:spcPts val="5519"/>
              </a:lnSpc>
              <a:buFont typeface="Arial" panose="020B0604020202020204" pitchFamily="34" charset="0"/>
              <a:buChar char="•"/>
            </a:pPr>
            <a:r>
              <a:rPr lang="en-GB" sz="3999" b="1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Original: 1.46.</a:t>
            </a:r>
          </a:p>
          <a:p>
            <a:pPr>
              <a:lnSpc>
                <a:spcPts val="5519"/>
              </a:lnSpc>
            </a:pPr>
            <a:r>
              <a:rPr lang="en-US" sz="3600" b="1" dirty="0">
                <a:solidFill>
                  <a:srgbClr val="FFFCF4"/>
                </a:solidFill>
                <a:latin typeface="Times New Roman MT" panose="020B0604020202020204" charset="0"/>
                <a:ea typeface="Times New Roman MT Bold"/>
                <a:cs typeface="Times New Roman MT Bold"/>
                <a:sym typeface="Times New Roman MT Bold"/>
              </a:rPr>
              <a:t>Insight: </a:t>
            </a:r>
            <a:r>
              <a:rPr lang="en-GB" sz="3600" b="1" dirty="0">
                <a:solidFill>
                  <a:srgbClr val="FFFCF4"/>
                </a:solidFill>
                <a:latin typeface="Times New Roman MT" panose="020B0604020202020204" charset="0"/>
                <a:ea typeface="Times New Roman MT Bold"/>
                <a:cs typeface="Times New Roman MT Bold"/>
                <a:sym typeface="Times New Roman MT Bold"/>
              </a:rPr>
              <a:t>Allam model has been trained to generate a style that is overtly direct and assertive , while the other LLMs gravitate toward a more passive voice style.</a:t>
            </a:r>
          </a:p>
        </p:txBody>
      </p:sp>
      <p:sp>
        <p:nvSpPr>
          <p:cNvPr id="9" name="AutoShape 9">
            <a:extLst>
              <a:ext uri="{FF2B5EF4-FFF2-40B4-BE49-F238E27FC236}">
                <a16:creationId xmlns:a16="http://schemas.microsoft.com/office/drawing/2014/main" id="{892D96E5-BB74-1DB6-4C03-647CE62A7CB4}"/>
              </a:ext>
            </a:extLst>
          </p:cNvPr>
          <p:cNvSpPr/>
          <p:nvPr/>
        </p:nvSpPr>
        <p:spPr>
          <a:xfrm flipV="1">
            <a:off x="1028700" y="1019175"/>
            <a:ext cx="16139196" cy="9525"/>
          </a:xfrm>
          <a:prstGeom prst="line">
            <a:avLst/>
          </a:prstGeom>
          <a:ln w="66675" cap="flat">
            <a:solidFill>
              <a:srgbClr val="FFFCF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2126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566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07A561-B9AF-156D-E4F9-D458A44FE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5">
            <a:extLst>
              <a:ext uri="{FF2B5EF4-FFF2-40B4-BE49-F238E27FC236}">
                <a16:creationId xmlns:a16="http://schemas.microsoft.com/office/drawing/2014/main" id="{A9A5B33D-7B37-71CC-81B9-AE8752CDEBBB}"/>
              </a:ext>
            </a:extLst>
          </p:cNvPr>
          <p:cNvSpPr/>
          <p:nvPr/>
        </p:nvSpPr>
        <p:spPr>
          <a:xfrm>
            <a:off x="16245812" y="1303350"/>
            <a:ext cx="922084" cy="230521"/>
          </a:xfrm>
          <a:custGeom>
            <a:avLst/>
            <a:gdLst/>
            <a:ahLst/>
            <a:cxnLst/>
            <a:rect l="l" t="t" r="r" b="b"/>
            <a:pathLst>
              <a:path w="922084" h="230521">
                <a:moveTo>
                  <a:pt x="0" y="0"/>
                </a:moveTo>
                <a:lnTo>
                  <a:pt x="922084" y="0"/>
                </a:lnTo>
                <a:lnTo>
                  <a:pt x="922084" y="230521"/>
                </a:lnTo>
                <a:lnTo>
                  <a:pt x="0" y="23052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946AEDA4-35D2-ED31-79C1-3F3F7B904CC9}"/>
              </a:ext>
            </a:extLst>
          </p:cNvPr>
          <p:cNvSpPr/>
          <p:nvPr/>
        </p:nvSpPr>
        <p:spPr>
          <a:xfrm flipV="1">
            <a:off x="1028700" y="9771232"/>
            <a:ext cx="16139196" cy="9525"/>
          </a:xfrm>
          <a:prstGeom prst="line">
            <a:avLst/>
          </a:prstGeom>
          <a:ln w="66675" cap="flat">
            <a:solidFill>
              <a:srgbClr val="FFFCF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4D7F683D-BCE5-D47A-D68F-0F2643A6AB20}"/>
              </a:ext>
            </a:extLst>
          </p:cNvPr>
          <p:cNvSpPr txBox="1"/>
          <p:nvPr/>
        </p:nvSpPr>
        <p:spPr>
          <a:xfrm>
            <a:off x="1028700" y="1129038"/>
            <a:ext cx="12953291" cy="847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999"/>
              </a:lnSpc>
              <a:spcBef>
                <a:spcPct val="0"/>
              </a:spcBef>
            </a:pPr>
            <a:r>
              <a:rPr lang="en-US" sz="4999" b="1" spc="-149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Feature Engineering Con’t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763D360-1BA9-9470-6D93-9778E3AB0BEA}"/>
              </a:ext>
            </a:extLst>
          </p:cNvPr>
          <p:cNvSpPr txBox="1"/>
          <p:nvPr/>
        </p:nvSpPr>
        <p:spPr>
          <a:xfrm>
            <a:off x="1238171" y="2091105"/>
            <a:ext cx="16619549" cy="42007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19"/>
              </a:lnSpc>
            </a:pPr>
            <a:r>
              <a:rPr lang="en-US" sz="3999" b="1" dirty="0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4. Foreign Letters Ratio</a:t>
            </a:r>
          </a:p>
          <a:p>
            <a:pPr marL="863598" lvl="1" indent="-431799" algn="l">
              <a:lnSpc>
                <a:spcPts val="5519"/>
              </a:lnSpc>
              <a:buFont typeface="Arial"/>
              <a:buChar char="•"/>
            </a:pPr>
            <a:r>
              <a:rPr lang="en-US" sz="3999" b="1" dirty="0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AI</a:t>
            </a:r>
            <a:r>
              <a:rPr lang="en-US" sz="3999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: </a:t>
            </a:r>
            <a:r>
              <a:rPr lang="en-US" sz="3999" dirty="0" err="1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LLaMA</a:t>
            </a:r>
            <a:r>
              <a:rPr lang="en-US" sz="3999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: 0.98, Allam &amp; Jais: 0.49, OpenAI: 0.29.</a:t>
            </a:r>
          </a:p>
          <a:p>
            <a:pPr marL="863598" lvl="1" indent="-431799" algn="l">
              <a:lnSpc>
                <a:spcPts val="5519"/>
              </a:lnSpc>
              <a:buFont typeface="Arial"/>
              <a:buChar char="•"/>
            </a:pPr>
            <a:r>
              <a:rPr lang="en-US" sz="3999" b="1" dirty="0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Original</a:t>
            </a:r>
            <a:r>
              <a:rPr lang="en-US" sz="3999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: 0.83 (includes real English abbreviations or citations).</a:t>
            </a:r>
          </a:p>
          <a:p>
            <a:pPr algn="l">
              <a:lnSpc>
                <a:spcPts val="5519"/>
              </a:lnSpc>
            </a:pPr>
            <a:r>
              <a:rPr lang="en-US" sz="3999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Insight: </a:t>
            </a:r>
            <a:r>
              <a:rPr lang="en-US" sz="3600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Human and </a:t>
            </a:r>
            <a:r>
              <a:rPr lang="en-US" sz="3600" dirty="0" err="1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LLaMA</a:t>
            </a:r>
            <a:r>
              <a:rPr lang="en-US" sz="3600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writing often mixes Arabic with foreign symbols while other AI-generated text remained nearly pure Arabic.</a:t>
            </a:r>
          </a:p>
          <a:p>
            <a:pPr algn="l">
              <a:lnSpc>
                <a:spcPts val="5519"/>
              </a:lnSpc>
            </a:pPr>
            <a:endParaRPr lang="en-US" sz="3999" dirty="0">
              <a:solidFill>
                <a:srgbClr val="FFFCF4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</p:txBody>
      </p:sp>
      <p:sp>
        <p:nvSpPr>
          <p:cNvPr id="9" name="AutoShape 9">
            <a:extLst>
              <a:ext uri="{FF2B5EF4-FFF2-40B4-BE49-F238E27FC236}">
                <a16:creationId xmlns:a16="http://schemas.microsoft.com/office/drawing/2014/main" id="{B59C035E-5F44-C735-F7EF-ABB08B309564}"/>
              </a:ext>
            </a:extLst>
          </p:cNvPr>
          <p:cNvSpPr/>
          <p:nvPr/>
        </p:nvSpPr>
        <p:spPr>
          <a:xfrm flipV="1">
            <a:off x="1028700" y="1019175"/>
            <a:ext cx="16139196" cy="9525"/>
          </a:xfrm>
          <a:prstGeom prst="line">
            <a:avLst/>
          </a:prstGeom>
          <a:ln w="66675" cap="flat">
            <a:solidFill>
              <a:srgbClr val="FFFCF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pic>
        <p:nvPicPr>
          <p:cNvPr id="2" name="image21.png">
            <a:extLst>
              <a:ext uri="{FF2B5EF4-FFF2-40B4-BE49-F238E27FC236}">
                <a16:creationId xmlns:a16="http://schemas.microsoft.com/office/drawing/2014/main" id="{A5CEA61B-4099-C6D9-6F3C-E62B77BE736B}"/>
              </a:ext>
            </a:extLst>
          </p:cNvPr>
          <p:cNvPicPr/>
          <p:nvPr/>
        </p:nvPicPr>
        <p:blipFill>
          <a:blip r:embed="rId5"/>
          <a:srcRect r="865"/>
          <a:stretch>
            <a:fillRect/>
          </a:stretch>
        </p:blipFill>
        <p:spPr>
          <a:xfrm>
            <a:off x="6188869" y="5753100"/>
            <a:ext cx="5910262" cy="3806508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25747534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56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453432" y="1810096"/>
            <a:ext cx="11584761" cy="11584761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89B9F">
                <a:alpha val="3922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6245812" y="1303350"/>
            <a:ext cx="922084" cy="230521"/>
          </a:xfrm>
          <a:custGeom>
            <a:avLst/>
            <a:gdLst/>
            <a:ahLst/>
            <a:cxnLst/>
            <a:rect l="l" t="t" r="r" b="b"/>
            <a:pathLst>
              <a:path w="922084" h="230521">
                <a:moveTo>
                  <a:pt x="0" y="0"/>
                </a:moveTo>
                <a:lnTo>
                  <a:pt x="922084" y="0"/>
                </a:lnTo>
                <a:lnTo>
                  <a:pt x="922084" y="230521"/>
                </a:lnTo>
                <a:lnTo>
                  <a:pt x="0" y="23052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AutoShape 6"/>
          <p:cNvSpPr/>
          <p:nvPr/>
        </p:nvSpPr>
        <p:spPr>
          <a:xfrm flipV="1">
            <a:off x="1028700" y="9451369"/>
            <a:ext cx="16139196" cy="9525"/>
          </a:xfrm>
          <a:prstGeom prst="line">
            <a:avLst/>
          </a:prstGeom>
          <a:ln w="66675" cap="flat">
            <a:solidFill>
              <a:srgbClr val="FFFCF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1028700" y="1354429"/>
            <a:ext cx="12953291" cy="847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999"/>
              </a:lnSpc>
              <a:spcBef>
                <a:spcPct val="0"/>
              </a:spcBef>
            </a:pPr>
            <a:r>
              <a:rPr lang="en-US" sz="4999" b="1" spc="-149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Feature Engineering Con’t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209675" y="2376509"/>
            <a:ext cx="16363083" cy="63166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19"/>
              </a:lnSpc>
            </a:pPr>
            <a:r>
              <a:rPr lang="en-US" sz="3999" b="1" dirty="0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5. Redundancy Score</a:t>
            </a:r>
          </a:p>
          <a:p>
            <a:pPr marL="863599" lvl="1" indent="-431800" algn="l">
              <a:lnSpc>
                <a:spcPts val="5519"/>
              </a:lnSpc>
              <a:buFont typeface="Arial"/>
              <a:buChar char="•"/>
            </a:pPr>
            <a:r>
              <a:rPr lang="en-US" sz="3999" dirty="0">
                <a:solidFill>
                  <a:srgbClr val="FFFCF4"/>
                </a:solidFill>
                <a:latin typeface="Times New Roman MT" panose="020B0604020202020204" charset="0"/>
                <a:ea typeface="Times New Roman MT Bold"/>
                <a:cs typeface="Times New Roman MT Bold"/>
                <a:sym typeface="Times New Roman MT Bold"/>
              </a:rPr>
              <a:t>AI: Allam: 0.56, </a:t>
            </a:r>
            <a:r>
              <a:rPr lang="en-US" sz="3999" dirty="0" err="1">
                <a:solidFill>
                  <a:srgbClr val="FFFCF4"/>
                </a:solidFill>
                <a:latin typeface="Times New Roman MT" panose="020B0604020202020204" charset="0"/>
                <a:ea typeface="Times New Roman MT Bold"/>
                <a:cs typeface="Times New Roman MT Bold"/>
                <a:sym typeface="Times New Roman MT Bold"/>
              </a:rPr>
              <a:t>LLaMA</a:t>
            </a:r>
            <a:r>
              <a:rPr lang="en-US" sz="3999" dirty="0">
                <a:solidFill>
                  <a:srgbClr val="FFFCF4"/>
                </a:solidFill>
                <a:latin typeface="Times New Roman MT" panose="020B0604020202020204" charset="0"/>
                <a:ea typeface="Times New Roman MT Bold"/>
                <a:cs typeface="Times New Roman MT Bold"/>
                <a:sym typeface="Times New Roman MT Bold"/>
              </a:rPr>
              <a:t>: 0.55, Jais: 0.54, OpenAI: 0.52.</a:t>
            </a:r>
          </a:p>
          <a:p>
            <a:pPr marL="863599" lvl="1" indent="-431800" algn="l">
              <a:lnSpc>
                <a:spcPts val="5519"/>
              </a:lnSpc>
              <a:buFont typeface="Arial"/>
              <a:buChar char="•"/>
            </a:pPr>
            <a:r>
              <a:rPr lang="en-US" sz="3999" dirty="0">
                <a:solidFill>
                  <a:srgbClr val="FFFCF4"/>
                </a:solidFill>
                <a:latin typeface="Times New Roman MT" panose="020B0604020202020204" charset="0"/>
                <a:ea typeface="Times New Roman MT Bold"/>
                <a:cs typeface="Times New Roman MT Bold"/>
                <a:sym typeface="Times New Roman MT Bold"/>
              </a:rPr>
              <a:t>Original: 0.39 (much lower repetition).</a:t>
            </a:r>
          </a:p>
          <a:p>
            <a:pPr algn="l">
              <a:lnSpc>
                <a:spcPts val="5519"/>
              </a:lnSpc>
            </a:pPr>
            <a:r>
              <a:rPr lang="en-US" sz="3999" b="1" dirty="0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Insight: AI-generated abstracts are more repetitive and template-like and human writing is diverse and context-driven.</a:t>
            </a:r>
          </a:p>
          <a:p>
            <a:pPr algn="l">
              <a:lnSpc>
                <a:spcPts val="5519"/>
              </a:lnSpc>
            </a:pPr>
            <a:r>
              <a:rPr lang="en-US" sz="3999" b="1" dirty="0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6. Vocabulary Richness was </a:t>
            </a:r>
            <a:r>
              <a:rPr lang="en-GB" sz="3999" b="1" dirty="0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measured by the Type-Token Ratio (TTR)</a:t>
            </a:r>
            <a:r>
              <a:rPr lang="en-US" sz="3999" b="1" dirty="0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</a:t>
            </a:r>
          </a:p>
          <a:p>
            <a:pPr marL="863599" lvl="1" indent="-431800" algn="l">
              <a:lnSpc>
                <a:spcPts val="5519"/>
              </a:lnSpc>
              <a:buFont typeface="Arial"/>
              <a:buChar char="•"/>
            </a:pPr>
            <a:r>
              <a:rPr lang="en-US" sz="3999" b="1" dirty="0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AI</a:t>
            </a:r>
            <a:r>
              <a:rPr lang="en-US" sz="3999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: 0.70–0.79 range.</a:t>
            </a:r>
          </a:p>
          <a:p>
            <a:pPr marL="863599" lvl="1" indent="-431800" algn="l">
              <a:lnSpc>
                <a:spcPts val="5519"/>
              </a:lnSpc>
              <a:buFont typeface="Arial"/>
              <a:buChar char="•"/>
            </a:pPr>
            <a:r>
              <a:rPr lang="en-US" sz="3999" b="1" dirty="0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Original</a:t>
            </a:r>
            <a:r>
              <a:rPr lang="en-US" sz="3999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: 0.798 (highest diversity).</a:t>
            </a:r>
          </a:p>
          <a:p>
            <a:pPr algn="l">
              <a:lnSpc>
                <a:spcPts val="5519"/>
              </a:lnSpc>
            </a:pPr>
            <a:r>
              <a:rPr lang="en-US" sz="3999" b="1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Insight: Human abstracts use a broader and more varied vocabulary</a:t>
            </a:r>
            <a:r>
              <a:rPr lang="en-US" sz="3999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.</a:t>
            </a:r>
          </a:p>
        </p:txBody>
      </p:sp>
      <p:sp>
        <p:nvSpPr>
          <p:cNvPr id="9" name="AutoShape 9"/>
          <p:cNvSpPr/>
          <p:nvPr/>
        </p:nvSpPr>
        <p:spPr>
          <a:xfrm flipV="1">
            <a:off x="1028700" y="1019175"/>
            <a:ext cx="16139196" cy="9525"/>
          </a:xfrm>
          <a:prstGeom prst="line">
            <a:avLst/>
          </a:prstGeom>
          <a:ln w="66675" cap="flat">
            <a:solidFill>
              <a:srgbClr val="FFFCF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56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453432" y="1810096"/>
            <a:ext cx="11584761" cy="11584761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89B9F">
                <a:alpha val="3922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6245812" y="1303350"/>
            <a:ext cx="922084" cy="230521"/>
          </a:xfrm>
          <a:custGeom>
            <a:avLst/>
            <a:gdLst/>
            <a:ahLst/>
            <a:cxnLst/>
            <a:rect l="l" t="t" r="r" b="b"/>
            <a:pathLst>
              <a:path w="922084" h="230521">
                <a:moveTo>
                  <a:pt x="0" y="0"/>
                </a:moveTo>
                <a:lnTo>
                  <a:pt x="922084" y="0"/>
                </a:lnTo>
                <a:lnTo>
                  <a:pt x="922084" y="230521"/>
                </a:lnTo>
                <a:lnTo>
                  <a:pt x="0" y="23052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AutoShape 6"/>
          <p:cNvSpPr/>
          <p:nvPr/>
        </p:nvSpPr>
        <p:spPr>
          <a:xfrm flipV="1">
            <a:off x="1028700" y="9621574"/>
            <a:ext cx="16139196" cy="9525"/>
          </a:xfrm>
          <a:prstGeom prst="line">
            <a:avLst/>
          </a:prstGeom>
          <a:ln w="66675" cap="flat">
            <a:solidFill>
              <a:srgbClr val="FFFCF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14295449" y="5510401"/>
            <a:ext cx="3674745" cy="2953825"/>
          </a:xfrm>
          <a:custGeom>
            <a:avLst/>
            <a:gdLst/>
            <a:ahLst/>
            <a:cxnLst/>
            <a:rect l="l" t="t" r="r" b="b"/>
            <a:pathLst>
              <a:path w="3674745" h="2953825">
                <a:moveTo>
                  <a:pt x="0" y="0"/>
                </a:moveTo>
                <a:lnTo>
                  <a:pt x="3674745" y="0"/>
                </a:lnTo>
                <a:lnTo>
                  <a:pt x="3674745" y="2953824"/>
                </a:lnTo>
                <a:lnTo>
                  <a:pt x="0" y="2953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0478" r="-418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14295449" y="2125276"/>
            <a:ext cx="3674745" cy="3018224"/>
          </a:xfrm>
          <a:custGeom>
            <a:avLst/>
            <a:gdLst/>
            <a:ahLst/>
            <a:cxnLst/>
            <a:rect l="l" t="t" r="r" b="b"/>
            <a:pathLst>
              <a:path w="3674745" h="3018224">
                <a:moveTo>
                  <a:pt x="0" y="0"/>
                </a:moveTo>
                <a:lnTo>
                  <a:pt x="3674745" y="0"/>
                </a:lnTo>
                <a:lnTo>
                  <a:pt x="3674745" y="3018224"/>
                </a:lnTo>
                <a:lnTo>
                  <a:pt x="0" y="301822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0243" r="-400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TextBox 9"/>
          <p:cNvSpPr txBox="1"/>
          <p:nvPr/>
        </p:nvSpPr>
        <p:spPr>
          <a:xfrm>
            <a:off x="1028700" y="1160475"/>
            <a:ext cx="12953291" cy="847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999"/>
              </a:lnSpc>
              <a:spcBef>
                <a:spcPct val="0"/>
              </a:spcBef>
            </a:pPr>
            <a:r>
              <a:rPr lang="en-US" sz="4999" b="1" spc="-149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Embeddings &amp; Data Splitting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57723" y="1972876"/>
            <a:ext cx="13437726" cy="49602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1500" indent="-571500" algn="l">
              <a:lnSpc>
                <a:spcPts val="4911"/>
              </a:lnSpc>
              <a:buFont typeface="Arial" panose="020B0604020202020204" pitchFamily="34" charset="0"/>
              <a:buChar char="•"/>
            </a:pPr>
            <a:r>
              <a:rPr lang="en-GB" sz="3559" u="none" strike="noStrike" dirty="0">
                <a:solidFill>
                  <a:srgbClr val="FFFCF4"/>
                </a:solidFill>
                <a:latin typeface="Times New Roman MT" panose="020B0604020202020204" charset="0"/>
                <a:ea typeface="Times New Roman MT Bold"/>
                <a:cs typeface="Times New Roman MT Bold"/>
                <a:sym typeface="Times New Roman MT Bold"/>
              </a:rPr>
              <a:t>Text is represented using lexical features extracted by Term Frequency–Inverse Document Frequency </a:t>
            </a:r>
            <a:r>
              <a:rPr lang="en-GB" sz="3559" b="1" u="none" strike="noStrike" dirty="0">
                <a:solidFill>
                  <a:srgbClr val="FFFCF4"/>
                </a:solidFill>
                <a:latin typeface="Times New Roman MT" panose="020B0604020202020204" charset="0"/>
                <a:ea typeface="Times New Roman MT Bold"/>
                <a:cs typeface="Times New Roman MT Bold"/>
                <a:sym typeface="Times New Roman MT Bold"/>
              </a:rPr>
              <a:t>(TF-IDF) </a:t>
            </a:r>
            <a:r>
              <a:rPr lang="en-GB" sz="3559" u="none" strike="noStrike" dirty="0">
                <a:solidFill>
                  <a:srgbClr val="FFFCF4"/>
                </a:solidFill>
                <a:latin typeface="Times New Roman MT" panose="020B0604020202020204" charset="0"/>
                <a:ea typeface="Times New Roman MT Bold"/>
                <a:cs typeface="Times New Roman MT Bold"/>
                <a:sym typeface="Times New Roman MT Bold"/>
              </a:rPr>
              <a:t>and semantic features using (</a:t>
            </a:r>
            <a:r>
              <a:rPr lang="en-GB" sz="3559" b="1" u="none" strike="noStrike" dirty="0">
                <a:solidFill>
                  <a:srgbClr val="FFFCF4"/>
                </a:solidFill>
                <a:latin typeface="Times New Roman MT" panose="020B0604020202020204" charset="0"/>
                <a:ea typeface="Times New Roman MT Bold"/>
                <a:cs typeface="Times New Roman MT Bold"/>
                <a:sym typeface="Times New Roman MT Bold"/>
              </a:rPr>
              <a:t>BERT</a:t>
            </a:r>
            <a:r>
              <a:rPr lang="en-GB" sz="3559" u="none" strike="noStrike" dirty="0">
                <a:solidFill>
                  <a:srgbClr val="FFFCF4"/>
                </a:solidFill>
                <a:latin typeface="Times New Roman MT" panose="020B0604020202020204" charset="0"/>
                <a:ea typeface="Times New Roman MT Bold"/>
                <a:cs typeface="Times New Roman MT Bold"/>
                <a:sym typeface="Times New Roman MT Bold"/>
              </a:rPr>
              <a:t> embeddings) before feeding into the model.</a:t>
            </a:r>
          </a:p>
          <a:p>
            <a:pPr marL="571500" indent="-571500" algn="l">
              <a:lnSpc>
                <a:spcPts val="4911"/>
              </a:lnSpc>
              <a:buFont typeface="Arial" panose="020B0604020202020204" pitchFamily="34" charset="0"/>
              <a:buChar char="•"/>
            </a:pPr>
            <a:endParaRPr lang="en-US" sz="3559" b="1" u="none" strike="noStrike" dirty="0">
              <a:solidFill>
                <a:srgbClr val="FFFCF4"/>
              </a:solidFill>
              <a:latin typeface="Times New Roman MT Bold"/>
              <a:ea typeface="Times New Roman MT Bold"/>
              <a:cs typeface="Times New Roman MT Bold"/>
              <a:sym typeface="Times New Roman MT Bold"/>
            </a:endParaRPr>
          </a:p>
          <a:p>
            <a:pPr algn="l">
              <a:lnSpc>
                <a:spcPts val="4911"/>
              </a:lnSpc>
            </a:pPr>
            <a:r>
              <a:rPr lang="en-US" sz="3559" b="1" u="none" strike="noStrike" dirty="0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Data Splitting </a:t>
            </a:r>
            <a:r>
              <a:rPr lang="en-US" sz="3559" u="none" strike="noStrike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(70 / 15 / 15 : Train / Validation / Test)</a:t>
            </a:r>
          </a:p>
          <a:p>
            <a:pPr marL="746879" lvl="1" indent="-373440" algn="l">
              <a:lnSpc>
                <a:spcPts val="4773"/>
              </a:lnSpc>
              <a:buFont typeface="Arial"/>
              <a:buChar char="•"/>
            </a:pPr>
            <a:r>
              <a:rPr lang="en-US" sz="3459" u="none" strike="noStrike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Ensures fair model evaluation and prevents data leakage.</a:t>
            </a:r>
          </a:p>
          <a:p>
            <a:pPr marL="746879" lvl="1" indent="-373440" algn="l">
              <a:lnSpc>
                <a:spcPts val="4773"/>
              </a:lnSpc>
              <a:buFont typeface="Arial"/>
              <a:buChar char="•"/>
            </a:pPr>
            <a:r>
              <a:rPr lang="en-US" sz="3459" u="none" strike="noStrike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Training used for fitting, validation for tuning, and test for final performance check.</a:t>
            </a:r>
          </a:p>
        </p:txBody>
      </p:sp>
      <p:sp>
        <p:nvSpPr>
          <p:cNvPr id="11" name="AutoShape 11"/>
          <p:cNvSpPr/>
          <p:nvPr/>
        </p:nvSpPr>
        <p:spPr>
          <a:xfrm flipV="1">
            <a:off x="1028700" y="1019175"/>
            <a:ext cx="16139196" cy="9525"/>
          </a:xfrm>
          <a:prstGeom prst="line">
            <a:avLst/>
          </a:prstGeom>
          <a:ln w="66675" cap="flat">
            <a:solidFill>
              <a:srgbClr val="FFFCF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56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453432" y="1810096"/>
            <a:ext cx="11584761" cy="11584761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89B9F">
                <a:alpha val="3922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6245812" y="1303350"/>
            <a:ext cx="922084" cy="230521"/>
          </a:xfrm>
          <a:custGeom>
            <a:avLst/>
            <a:gdLst/>
            <a:ahLst/>
            <a:cxnLst/>
            <a:rect l="l" t="t" r="r" b="b"/>
            <a:pathLst>
              <a:path w="922084" h="230521">
                <a:moveTo>
                  <a:pt x="0" y="0"/>
                </a:moveTo>
                <a:lnTo>
                  <a:pt x="922084" y="0"/>
                </a:lnTo>
                <a:lnTo>
                  <a:pt x="922084" y="230521"/>
                </a:lnTo>
                <a:lnTo>
                  <a:pt x="0" y="23052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AutoShape 6"/>
          <p:cNvSpPr/>
          <p:nvPr/>
        </p:nvSpPr>
        <p:spPr>
          <a:xfrm flipV="1">
            <a:off x="1028700" y="9248775"/>
            <a:ext cx="16139196" cy="9525"/>
          </a:xfrm>
          <a:prstGeom prst="line">
            <a:avLst/>
          </a:prstGeom>
          <a:ln w="66675" cap="flat">
            <a:solidFill>
              <a:srgbClr val="FFFCF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Box 8"/>
          <p:cNvSpPr txBox="1"/>
          <p:nvPr/>
        </p:nvSpPr>
        <p:spPr>
          <a:xfrm>
            <a:off x="1028700" y="1261605"/>
            <a:ext cx="12953291" cy="758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5999"/>
              </a:lnSpc>
              <a:spcBef>
                <a:spcPct val="0"/>
              </a:spcBef>
            </a:pPr>
            <a:r>
              <a:rPr lang="en-US" sz="4999" b="1" spc="-149" dirty="0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Feature Scaling &amp; Data Balancing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57723" y="2262592"/>
            <a:ext cx="16401577" cy="37936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187"/>
              </a:lnSpc>
            </a:pPr>
            <a:r>
              <a:rPr lang="en-US" sz="3759" b="1" dirty="0" err="1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StandardScaler</a:t>
            </a:r>
            <a:r>
              <a:rPr lang="en-US" sz="3759" b="1" dirty="0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:</a:t>
            </a:r>
          </a:p>
          <a:p>
            <a:pPr marL="746879" lvl="1" indent="-373440">
              <a:lnSpc>
                <a:spcPts val="4773"/>
              </a:lnSpc>
              <a:buFont typeface="Arial"/>
              <a:buChar char="•"/>
            </a:pPr>
            <a:r>
              <a:rPr lang="en-US" sz="3459" b="1" dirty="0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</a:t>
            </a:r>
            <a:r>
              <a:rPr lang="en-US" sz="3459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Normalized numerical features (zero mean, unit variance) to improve model convergence and performance consistency.</a:t>
            </a:r>
            <a:endParaRPr lang="en-US" sz="3759" b="1" dirty="0">
              <a:solidFill>
                <a:srgbClr val="FFFCF4"/>
              </a:solidFill>
              <a:latin typeface="Times New Roman MT Bold"/>
              <a:ea typeface="Times New Roman MT Bold"/>
              <a:cs typeface="Times New Roman MT Bold"/>
              <a:sym typeface="Times New Roman MT Bold"/>
            </a:endParaRPr>
          </a:p>
          <a:p>
            <a:pPr algn="l">
              <a:lnSpc>
                <a:spcPts val="5187"/>
              </a:lnSpc>
            </a:pPr>
            <a:r>
              <a:rPr lang="en-US" sz="3759" b="1" dirty="0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SMOTE:</a:t>
            </a:r>
          </a:p>
          <a:p>
            <a:pPr marL="768469" lvl="1" indent="-384234" algn="l">
              <a:lnSpc>
                <a:spcPts val="4911"/>
              </a:lnSpc>
              <a:buFont typeface="Arial"/>
              <a:buChar char="•"/>
            </a:pPr>
            <a:r>
              <a:rPr lang="en-GB" sz="3559" u="none" strike="noStrike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The dataset was balanced by creating synthetic samples for the minority class (human-written) to reduce model bias.</a:t>
            </a:r>
            <a:endParaRPr lang="en-US" sz="3559" u="none" strike="noStrike" dirty="0">
              <a:solidFill>
                <a:srgbClr val="FFFCF4"/>
              </a:solidFill>
              <a:latin typeface="Times New Roman MT"/>
              <a:ea typeface="Times New Roman MT"/>
              <a:cs typeface="Times New Roman MT"/>
              <a:sym typeface="Times New Roman MT"/>
            </a:endParaRPr>
          </a:p>
        </p:txBody>
      </p:sp>
      <p:sp>
        <p:nvSpPr>
          <p:cNvPr id="10" name="AutoShape 10"/>
          <p:cNvSpPr/>
          <p:nvPr/>
        </p:nvSpPr>
        <p:spPr>
          <a:xfrm flipV="1">
            <a:off x="1028700" y="1019175"/>
            <a:ext cx="16139196" cy="9525"/>
          </a:xfrm>
          <a:prstGeom prst="line">
            <a:avLst/>
          </a:prstGeom>
          <a:ln w="66675" cap="flat">
            <a:solidFill>
              <a:srgbClr val="FFFCF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56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5"/>
          <p:cNvSpPr/>
          <p:nvPr/>
        </p:nvSpPr>
        <p:spPr>
          <a:xfrm>
            <a:off x="16245812" y="1303350"/>
            <a:ext cx="922084" cy="230521"/>
          </a:xfrm>
          <a:custGeom>
            <a:avLst/>
            <a:gdLst/>
            <a:ahLst/>
            <a:cxnLst/>
            <a:rect l="l" t="t" r="r" b="b"/>
            <a:pathLst>
              <a:path w="922084" h="230521">
                <a:moveTo>
                  <a:pt x="0" y="0"/>
                </a:moveTo>
                <a:lnTo>
                  <a:pt x="922084" y="0"/>
                </a:lnTo>
                <a:lnTo>
                  <a:pt x="922084" y="230521"/>
                </a:lnTo>
                <a:lnTo>
                  <a:pt x="0" y="23052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3177877" y="5385148"/>
            <a:ext cx="10127328" cy="4882802"/>
          </a:xfrm>
          <a:custGeom>
            <a:avLst/>
            <a:gdLst/>
            <a:ahLst/>
            <a:cxnLst/>
            <a:rect l="l" t="t" r="r" b="b"/>
            <a:pathLst>
              <a:path w="10127328" h="4882802">
                <a:moveTo>
                  <a:pt x="0" y="0"/>
                </a:moveTo>
                <a:lnTo>
                  <a:pt x="10127328" y="0"/>
                </a:lnTo>
                <a:lnTo>
                  <a:pt x="10127328" y="4882802"/>
                </a:lnTo>
                <a:lnTo>
                  <a:pt x="0" y="488280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3277" b="-327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1028700" y="1009954"/>
            <a:ext cx="12953291" cy="847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999"/>
              </a:lnSpc>
              <a:spcBef>
                <a:spcPct val="0"/>
              </a:spcBef>
            </a:pPr>
            <a:r>
              <a:rPr lang="en-US" sz="4999" b="1" spc="-149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Results &amp; Analysis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30280" y="1638646"/>
            <a:ext cx="17857720" cy="36663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47" lvl="1" indent="-377824" algn="l">
              <a:lnSpc>
                <a:spcPts val="4829"/>
              </a:lnSpc>
              <a:buFont typeface="Arial"/>
              <a:buChar char="•"/>
            </a:pPr>
            <a:r>
              <a:rPr lang="en-US" sz="3499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TF-IDF features were more effective for traditional ML models.</a:t>
            </a:r>
          </a:p>
          <a:p>
            <a:pPr marL="755647" lvl="1" indent="-377824">
              <a:lnSpc>
                <a:spcPts val="4829"/>
              </a:lnSpc>
              <a:buFont typeface="Arial"/>
              <a:buChar char="•"/>
            </a:pPr>
            <a:r>
              <a:rPr lang="en-US" sz="3499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BERT embeddings worked better for deep models, improving contextual generalization.</a:t>
            </a:r>
          </a:p>
          <a:p>
            <a:pPr marL="755647" lvl="1" indent="-377824">
              <a:lnSpc>
                <a:spcPts val="4829"/>
              </a:lnSpc>
              <a:buFont typeface="Arial"/>
              <a:buChar char="•"/>
            </a:pPr>
            <a:r>
              <a:rPr lang="en-US" sz="3499" dirty="0" err="1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XGBoost</a:t>
            </a:r>
            <a:r>
              <a:rPr lang="en-US" sz="3499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</a:t>
            </a:r>
            <a:r>
              <a:rPr lang="en-US" sz="3600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achieved the best overall performance accuracy 95.1% </a:t>
            </a:r>
            <a:r>
              <a:rPr lang="en-US" sz="3499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.</a:t>
            </a:r>
          </a:p>
          <a:p>
            <a:pPr marL="755647" lvl="1" indent="-377824" algn="l">
              <a:lnSpc>
                <a:spcPts val="4829"/>
              </a:lnSpc>
              <a:buFont typeface="Arial"/>
              <a:buChar char="•"/>
            </a:pPr>
            <a:r>
              <a:rPr lang="en-US" sz="3499" u="none" strike="noStrike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The Stylometric analysis validated these results</a:t>
            </a:r>
            <a:r>
              <a:rPr lang="en-US" sz="3499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:</a:t>
            </a:r>
          </a:p>
          <a:p>
            <a:pPr marL="377823" lvl="1" algn="l">
              <a:lnSpc>
                <a:spcPts val="4829"/>
              </a:lnSpc>
            </a:pPr>
            <a:r>
              <a:rPr lang="en-US" sz="3499" u="none" strike="noStrike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∴ AI-generated texts were shorter, more redundant, and structurally repetitive compared to human texts.</a:t>
            </a:r>
          </a:p>
        </p:txBody>
      </p:sp>
      <p:sp>
        <p:nvSpPr>
          <p:cNvPr id="9" name="AutoShape 9"/>
          <p:cNvSpPr/>
          <p:nvPr/>
        </p:nvSpPr>
        <p:spPr>
          <a:xfrm flipV="1">
            <a:off x="1028700" y="1019175"/>
            <a:ext cx="16139196" cy="9525"/>
          </a:xfrm>
          <a:prstGeom prst="line">
            <a:avLst/>
          </a:prstGeom>
          <a:ln w="66675" cap="flat">
            <a:solidFill>
              <a:srgbClr val="FFFCF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56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453432" y="1810096"/>
            <a:ext cx="11584761" cy="11584761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89B9F">
                <a:alpha val="3922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6245812" y="1042352"/>
            <a:ext cx="922084" cy="230521"/>
          </a:xfrm>
          <a:custGeom>
            <a:avLst/>
            <a:gdLst/>
            <a:ahLst/>
            <a:cxnLst/>
            <a:rect l="l" t="t" r="r" b="b"/>
            <a:pathLst>
              <a:path w="922084" h="230521">
                <a:moveTo>
                  <a:pt x="0" y="0"/>
                </a:moveTo>
                <a:lnTo>
                  <a:pt x="922084" y="0"/>
                </a:lnTo>
                <a:lnTo>
                  <a:pt x="922084" y="230521"/>
                </a:lnTo>
                <a:lnTo>
                  <a:pt x="0" y="23052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AutoShape 6"/>
          <p:cNvSpPr/>
          <p:nvPr/>
        </p:nvSpPr>
        <p:spPr>
          <a:xfrm flipV="1">
            <a:off x="1028700" y="9595703"/>
            <a:ext cx="16139196" cy="9525"/>
          </a:xfrm>
          <a:prstGeom prst="line">
            <a:avLst/>
          </a:prstGeom>
          <a:ln w="66675" cap="flat">
            <a:solidFill>
              <a:srgbClr val="FFFCF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1028700" y="1062363"/>
            <a:ext cx="12953291" cy="847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999"/>
              </a:lnSpc>
              <a:spcBef>
                <a:spcPct val="0"/>
              </a:spcBef>
            </a:pPr>
            <a:r>
              <a:rPr lang="en-US" sz="4999" b="1" spc="-149">
                <a:solidFill>
                  <a:srgbClr val="FFFCF4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Conclusion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87272" y="1972021"/>
            <a:ext cx="17031330" cy="73582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46879" lvl="1" indent="-373440" algn="l">
              <a:lnSpc>
                <a:spcPts val="4773"/>
              </a:lnSpc>
              <a:buFont typeface="Arial"/>
              <a:buChar char="•"/>
            </a:pPr>
            <a:r>
              <a:rPr lang="en-US" sz="3459" u="none" strike="noStrike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Developed a complete Arabic AI-text detection pipeline </a:t>
            </a:r>
            <a:r>
              <a:rPr lang="en-US" sz="3459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(</a:t>
            </a:r>
            <a:r>
              <a:rPr lang="en-US" sz="3459" u="none" strike="noStrike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from data collection to model evaluation).</a:t>
            </a:r>
          </a:p>
          <a:p>
            <a:pPr marL="746879" lvl="1" indent="-373440" algn="l">
              <a:lnSpc>
                <a:spcPts val="4773"/>
              </a:lnSpc>
              <a:buFont typeface="Arial"/>
              <a:buChar char="•"/>
            </a:pPr>
            <a:r>
              <a:rPr lang="en-US" sz="3459" u="none" strike="noStrike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Built a custom Arabic preprocessing framework with normalization, diacritics removal, stemming, and lemmatization (Stanza + ISRI).</a:t>
            </a:r>
          </a:p>
          <a:p>
            <a:pPr marL="746879" lvl="1" indent="-373440" algn="l">
              <a:lnSpc>
                <a:spcPts val="4773"/>
              </a:lnSpc>
              <a:buFont typeface="Arial"/>
              <a:buChar char="•"/>
            </a:pPr>
            <a:r>
              <a:rPr lang="en-US" sz="3459" u="none" strike="noStrike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Extracted stylometric features such as sentence count, redundancy score, short-word ratio, number of active voices, and vocabulary richness to capture writing patterns.</a:t>
            </a:r>
          </a:p>
          <a:p>
            <a:pPr marL="746879" lvl="1" indent="-373440" algn="l">
              <a:lnSpc>
                <a:spcPts val="4773"/>
              </a:lnSpc>
              <a:buFont typeface="Arial"/>
              <a:buChar char="•"/>
            </a:pPr>
            <a:r>
              <a:rPr lang="en-US" sz="3459" u="none" strike="noStrike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Applied SMOTE to balance the dataset and </a:t>
            </a:r>
            <a:r>
              <a:rPr lang="en-US" sz="3459" u="none" strike="noStrike" dirty="0" err="1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StandardScaler</a:t>
            </a:r>
            <a:r>
              <a:rPr lang="en-US" sz="3459" u="none" strike="noStrike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to normalize numerical features, ensuring fair model training and consistent performance.</a:t>
            </a:r>
          </a:p>
          <a:p>
            <a:pPr marL="746879" lvl="1" indent="-373440" algn="l">
              <a:lnSpc>
                <a:spcPts val="4773"/>
              </a:lnSpc>
              <a:buFont typeface="Arial"/>
              <a:buChar char="•"/>
            </a:pPr>
            <a:r>
              <a:rPr lang="en-US" sz="3459" u="none" strike="noStrike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Compared TF-IDF (lexical) and BERT (contextual) embeddings across classical and deep learning models.</a:t>
            </a:r>
          </a:p>
          <a:p>
            <a:pPr marL="746879" lvl="1" indent="-373440" algn="l">
              <a:lnSpc>
                <a:spcPts val="4773"/>
              </a:lnSpc>
              <a:buFont typeface="Arial"/>
              <a:buChar char="•"/>
            </a:pPr>
            <a:r>
              <a:rPr lang="en-US" sz="3459" u="none" strike="noStrike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</a:t>
            </a:r>
            <a:r>
              <a:rPr lang="en-US" sz="3459" u="none" strike="noStrike" dirty="0" err="1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XGBoost</a:t>
            </a:r>
            <a:r>
              <a:rPr lang="en-US" sz="3459" u="none" strike="noStrike" dirty="0">
                <a:solidFill>
                  <a:srgbClr val="FFFCF4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with TF-IDF achieved the best overall performance (95.1% accuracy, 0.950 F1-score), confirming the strength of lexical features for Arabic text classification.</a:t>
            </a:r>
          </a:p>
        </p:txBody>
      </p:sp>
      <p:sp>
        <p:nvSpPr>
          <p:cNvPr id="9" name="AutoShape 9"/>
          <p:cNvSpPr/>
          <p:nvPr/>
        </p:nvSpPr>
        <p:spPr>
          <a:xfrm flipV="1">
            <a:off x="1028700" y="1019175"/>
            <a:ext cx="16139196" cy="9525"/>
          </a:xfrm>
          <a:prstGeom prst="line">
            <a:avLst/>
          </a:prstGeom>
          <a:ln w="66675" cap="flat">
            <a:solidFill>
              <a:srgbClr val="FFFCF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453432" y="1810096"/>
            <a:ext cx="11584761" cy="11584761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89B9F">
                <a:alpha val="3922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3251403" y="3949090"/>
            <a:ext cx="10076630" cy="17525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2265"/>
              </a:lnSpc>
              <a:spcBef>
                <a:spcPct val="0"/>
              </a:spcBef>
            </a:pPr>
            <a:r>
              <a:rPr lang="en-US" sz="10220" b="1" spc="-306">
                <a:solidFill>
                  <a:srgbClr val="435663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Thanks</a:t>
            </a:r>
          </a:p>
        </p:txBody>
      </p:sp>
      <p:sp>
        <p:nvSpPr>
          <p:cNvPr id="6" name="AutoShape 6"/>
          <p:cNvSpPr/>
          <p:nvPr/>
        </p:nvSpPr>
        <p:spPr>
          <a:xfrm flipV="1">
            <a:off x="1028700" y="1019175"/>
            <a:ext cx="16139196" cy="9525"/>
          </a:xfrm>
          <a:prstGeom prst="line">
            <a:avLst/>
          </a:prstGeom>
          <a:ln w="76200" cap="flat">
            <a:solidFill>
              <a:srgbClr val="4356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16245812" y="1303350"/>
            <a:ext cx="922084" cy="230521"/>
          </a:xfrm>
          <a:custGeom>
            <a:avLst/>
            <a:gdLst/>
            <a:ahLst/>
            <a:cxnLst/>
            <a:rect l="l" t="t" r="r" b="b"/>
            <a:pathLst>
              <a:path w="922084" h="230521">
                <a:moveTo>
                  <a:pt x="0" y="0"/>
                </a:moveTo>
                <a:lnTo>
                  <a:pt x="922084" y="0"/>
                </a:lnTo>
                <a:lnTo>
                  <a:pt x="922084" y="230521"/>
                </a:lnTo>
                <a:lnTo>
                  <a:pt x="0" y="23052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AutoShape 8"/>
          <p:cNvSpPr/>
          <p:nvPr/>
        </p:nvSpPr>
        <p:spPr>
          <a:xfrm flipV="1">
            <a:off x="1028700" y="9248775"/>
            <a:ext cx="16139196" cy="9525"/>
          </a:xfrm>
          <a:prstGeom prst="line">
            <a:avLst/>
          </a:prstGeom>
          <a:ln w="76200" cap="flat">
            <a:solidFill>
              <a:srgbClr val="4356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382</TotalTime>
  <Words>873</Words>
  <Application>Microsoft Office PowerPoint</Application>
  <PresentationFormat>Custom</PresentationFormat>
  <Paragraphs>87</Paragraphs>
  <Slides>14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Times New Roman</vt:lpstr>
      <vt:lpstr>Times New Roman MT</vt:lpstr>
      <vt:lpstr>Times New Roman MT Bold</vt:lpstr>
      <vt:lpstr>Calibri</vt:lpstr>
      <vt:lpstr>Arial</vt:lpstr>
      <vt:lpstr>Aptos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Advanced Data Analytic Techniques</dc:title>
  <cp:lastModifiedBy>shwg 167kh</cp:lastModifiedBy>
  <cp:revision>42</cp:revision>
  <dcterms:created xsi:type="dcterms:W3CDTF">2006-08-16T00:00:00Z</dcterms:created>
  <dcterms:modified xsi:type="dcterms:W3CDTF">2025-12-15T05:07:12Z</dcterms:modified>
  <dc:identifier>DAG3SJ20vl0</dc:identifier>
</cp:coreProperties>
</file>